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Bold" panose="020B0604020202020204" charset="0"/>
      <p:regular r:id="rId14"/>
    </p:embeddedFont>
    <p:embeddedFont>
      <p:font typeface="Archivo Black" panose="020B0604020202020204" charset="0"/>
      <p:regular r:id="rId15"/>
    </p:embeddedFont>
    <p:embeddedFont>
      <p:font typeface="Calibri" panose="020F0502020204030204" pitchFamily="34" charset="0"/>
      <p:regular r:id="rId16"/>
      <p:bold r:id="rId17"/>
      <p:italic r:id="rId18"/>
      <p:boldItalic r:id="rId19"/>
    </p:embeddedFont>
    <p:embeddedFont>
      <p:font typeface="Open Sans Bold" panose="020B0604020202020204" charset="0"/>
      <p:regular r:id="rId20"/>
    </p:embeddedFont>
    <p:embeddedFont>
      <p:font typeface="Canva San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06" y="-23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svg"/><Relationship Id="rId4" Type="http://schemas.openxmlformats.org/officeDocument/2006/relationships/image" Target="../media/image5.png"/><Relationship Id="rId9"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5217327" y="-3254787"/>
            <a:ext cx="6141345" cy="6176200"/>
          </a:xfrm>
          <a:custGeom>
            <a:avLst/>
            <a:gdLst/>
            <a:ahLst/>
            <a:cxnLst/>
            <a:rect l="l" t="t" r="r" b="b"/>
            <a:pathLst>
              <a:path w="6141345" h="6176200">
                <a:moveTo>
                  <a:pt x="0" y="0"/>
                </a:moveTo>
                <a:lnTo>
                  <a:pt x="6141346" y="0"/>
                </a:lnTo>
                <a:lnTo>
                  <a:pt x="6141346" y="6176199"/>
                </a:lnTo>
                <a:lnTo>
                  <a:pt x="0" y="617619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3628747" y="8159647"/>
            <a:ext cx="7983465" cy="8028774"/>
          </a:xfrm>
          <a:custGeom>
            <a:avLst/>
            <a:gdLst/>
            <a:ahLst/>
            <a:cxnLst/>
            <a:rect l="l" t="t" r="r" b="b"/>
            <a:pathLst>
              <a:path w="7983465" h="8028774">
                <a:moveTo>
                  <a:pt x="0" y="0"/>
                </a:moveTo>
                <a:lnTo>
                  <a:pt x="7983465" y="0"/>
                </a:lnTo>
                <a:lnTo>
                  <a:pt x="7983465" y="8028774"/>
                </a:lnTo>
                <a:lnTo>
                  <a:pt x="0" y="802877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930404" y="-3920634"/>
            <a:ext cx="4921404" cy="4949334"/>
          </a:xfrm>
          <a:custGeom>
            <a:avLst/>
            <a:gdLst/>
            <a:ahLst/>
            <a:cxnLst/>
            <a:rect l="l" t="t" r="r" b="b"/>
            <a:pathLst>
              <a:path w="4921404" h="4949334">
                <a:moveTo>
                  <a:pt x="0" y="0"/>
                </a:moveTo>
                <a:lnTo>
                  <a:pt x="4921403" y="0"/>
                </a:lnTo>
                <a:lnTo>
                  <a:pt x="4921403" y="4949334"/>
                </a:lnTo>
                <a:lnTo>
                  <a:pt x="0" y="494933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12258465" y="5143500"/>
            <a:ext cx="6463809" cy="5389201"/>
          </a:xfrm>
          <a:custGeom>
            <a:avLst/>
            <a:gdLst/>
            <a:ahLst/>
            <a:cxnLst/>
            <a:rect l="l" t="t" r="r" b="b"/>
            <a:pathLst>
              <a:path w="6463809" h="5389201">
                <a:moveTo>
                  <a:pt x="0" y="0"/>
                </a:moveTo>
                <a:lnTo>
                  <a:pt x="6463810" y="0"/>
                </a:lnTo>
                <a:lnTo>
                  <a:pt x="6463810" y="5389201"/>
                </a:lnTo>
                <a:lnTo>
                  <a:pt x="0" y="5389201"/>
                </a:lnTo>
                <a:lnTo>
                  <a:pt x="0" y="0"/>
                </a:lnTo>
                <a:close/>
              </a:path>
            </a:pathLst>
          </a:custGeom>
          <a:blipFill>
            <a:blip r:embed="rId4"/>
            <a:stretch>
              <a:fillRect/>
            </a:stretch>
          </a:blipFill>
        </p:spPr>
      </p:sp>
      <p:sp>
        <p:nvSpPr>
          <p:cNvPr id="6" name="Freeform 6"/>
          <p:cNvSpPr/>
          <p:nvPr/>
        </p:nvSpPr>
        <p:spPr>
          <a:xfrm>
            <a:off x="6131431" y="2533240"/>
            <a:ext cx="4265131" cy="2610260"/>
          </a:xfrm>
          <a:custGeom>
            <a:avLst/>
            <a:gdLst/>
            <a:ahLst/>
            <a:cxnLst/>
            <a:rect l="l" t="t" r="r" b="b"/>
            <a:pathLst>
              <a:path w="4265131" h="2610260">
                <a:moveTo>
                  <a:pt x="0" y="0"/>
                </a:moveTo>
                <a:lnTo>
                  <a:pt x="4265131" y="0"/>
                </a:lnTo>
                <a:lnTo>
                  <a:pt x="4265131" y="2610260"/>
                </a:lnTo>
                <a:lnTo>
                  <a:pt x="0" y="2610260"/>
                </a:lnTo>
                <a:lnTo>
                  <a:pt x="0" y="0"/>
                </a:lnTo>
                <a:close/>
              </a:path>
            </a:pathLst>
          </a:custGeom>
          <a:blipFill>
            <a:blip r:embed="rId5"/>
            <a:stretch>
              <a:fillRect/>
            </a:stretch>
          </a:blipFill>
        </p:spPr>
      </p:sp>
      <p:sp>
        <p:nvSpPr>
          <p:cNvPr id="7" name="TextBox 7"/>
          <p:cNvSpPr txBox="1"/>
          <p:nvPr/>
        </p:nvSpPr>
        <p:spPr>
          <a:xfrm>
            <a:off x="3135667" y="735078"/>
            <a:ext cx="11685050" cy="1581133"/>
          </a:xfrm>
          <a:prstGeom prst="rect">
            <a:avLst/>
          </a:prstGeom>
        </p:spPr>
        <p:txBody>
          <a:bodyPr lIns="0" tIns="0" rIns="0" bIns="0" rtlCol="0" anchor="t">
            <a:spAutoFit/>
          </a:bodyPr>
          <a:lstStyle/>
          <a:p>
            <a:pPr algn="ctr">
              <a:lnSpc>
                <a:spcPts val="6300"/>
              </a:lnSpc>
              <a:spcBef>
                <a:spcPct val="0"/>
              </a:spcBef>
            </a:pPr>
            <a:r>
              <a:rPr lang="en-US" sz="4500" spc="-220">
                <a:solidFill>
                  <a:srgbClr val="000000"/>
                </a:solidFill>
                <a:latin typeface="Archivo Black"/>
                <a:ea typeface="Archivo Black"/>
                <a:cs typeface="Archivo Black"/>
                <a:sym typeface="Archivo Black"/>
              </a:rPr>
              <a:t>JAVA-BASED ENTERPRISE INVENTORY MANAGEMENT SYSTEM</a:t>
            </a:r>
          </a:p>
        </p:txBody>
      </p:sp>
      <p:sp>
        <p:nvSpPr>
          <p:cNvPr id="8" name="TextBox 8"/>
          <p:cNvSpPr txBox="1"/>
          <p:nvPr/>
        </p:nvSpPr>
        <p:spPr>
          <a:xfrm>
            <a:off x="5951307" y="7896465"/>
            <a:ext cx="4381302" cy="615553"/>
          </a:xfrm>
          <a:prstGeom prst="rect">
            <a:avLst/>
          </a:prstGeom>
        </p:spPr>
        <p:txBody>
          <a:bodyPr lIns="0" tIns="0" rIns="0" bIns="0" rtlCol="0" anchor="t">
            <a:spAutoFit/>
          </a:bodyPr>
          <a:lstStyle/>
          <a:p>
            <a:pPr algn="ctr">
              <a:lnSpc>
                <a:spcPts val="4759"/>
              </a:lnSpc>
            </a:pPr>
            <a:r>
              <a:rPr lang="en-US" sz="3399" dirty="0" smtClean="0">
                <a:solidFill>
                  <a:srgbClr val="000000"/>
                </a:solidFill>
                <a:latin typeface="Canva Sans"/>
                <a:ea typeface="Canva Sans"/>
                <a:cs typeface="Canva Sans"/>
                <a:sym typeface="Canva Sans"/>
              </a:rPr>
              <a:t>Sagar</a:t>
            </a:r>
            <a:r>
              <a:rPr lang="en-US" sz="3399" dirty="0" smtClean="0">
                <a:solidFill>
                  <a:srgbClr val="000000"/>
                </a:solidFill>
                <a:latin typeface="Canva Sans"/>
                <a:ea typeface="Canva Sans"/>
                <a:cs typeface="Canva Sans"/>
                <a:sym typeface="Canva Sans"/>
              </a:rPr>
              <a:t> </a:t>
            </a:r>
            <a:r>
              <a:rPr lang="en-US" sz="3399" dirty="0">
                <a:solidFill>
                  <a:srgbClr val="000000"/>
                </a:solidFill>
                <a:latin typeface="Canva Sans"/>
                <a:ea typeface="Canva Sans"/>
                <a:cs typeface="Canva Sans"/>
                <a:sym typeface="Canva Sans"/>
              </a:rPr>
              <a:t>&amp; Team </a:t>
            </a:r>
          </a:p>
        </p:txBody>
      </p:sp>
      <p:sp>
        <p:nvSpPr>
          <p:cNvPr id="9" name="TextBox 9"/>
          <p:cNvSpPr txBox="1"/>
          <p:nvPr/>
        </p:nvSpPr>
        <p:spPr>
          <a:xfrm>
            <a:off x="6654028" y="8934767"/>
            <a:ext cx="1965821"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Batch- 13</a:t>
            </a:r>
          </a:p>
        </p:txBody>
      </p:sp>
      <p:sp>
        <p:nvSpPr>
          <p:cNvPr id="10" name="TextBox 10"/>
          <p:cNvSpPr txBox="1"/>
          <p:nvPr/>
        </p:nvSpPr>
        <p:spPr>
          <a:xfrm>
            <a:off x="6533130" y="6954125"/>
            <a:ext cx="2968724"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Presented by: </a:t>
            </a:r>
          </a:p>
        </p:txBody>
      </p:sp>
      <p:sp>
        <p:nvSpPr>
          <p:cNvPr id="11" name="TextBox 11"/>
          <p:cNvSpPr txBox="1"/>
          <p:nvPr/>
        </p:nvSpPr>
        <p:spPr>
          <a:xfrm>
            <a:off x="5951307" y="6078460"/>
            <a:ext cx="4625380"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Project Code: #z-13-18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078390" y="-1509121"/>
            <a:ext cx="2523499" cy="2537821"/>
          </a:xfrm>
          <a:custGeom>
            <a:avLst/>
            <a:gdLst/>
            <a:ahLst/>
            <a:cxnLst/>
            <a:rect l="l" t="t" r="r" b="b"/>
            <a:pathLst>
              <a:path w="2523499" h="2537821">
                <a:moveTo>
                  <a:pt x="0" y="0"/>
                </a:moveTo>
                <a:lnTo>
                  <a:pt x="2523499" y="0"/>
                </a:lnTo>
                <a:lnTo>
                  <a:pt x="2523499" y="2537821"/>
                </a:lnTo>
                <a:lnTo>
                  <a:pt x="0" y="253782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4427468" y="6934612"/>
            <a:ext cx="5663663" cy="5695807"/>
          </a:xfrm>
          <a:custGeom>
            <a:avLst/>
            <a:gdLst/>
            <a:ahLst/>
            <a:cxnLst/>
            <a:rect l="l" t="t" r="r" b="b"/>
            <a:pathLst>
              <a:path w="5663663" h="5695807">
                <a:moveTo>
                  <a:pt x="0" y="0"/>
                </a:moveTo>
                <a:lnTo>
                  <a:pt x="5663664" y="0"/>
                </a:lnTo>
                <a:lnTo>
                  <a:pt x="5663664" y="5695806"/>
                </a:lnTo>
                <a:lnTo>
                  <a:pt x="0" y="569580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5929328" y="3677268"/>
            <a:ext cx="1329972" cy="1726374"/>
          </a:xfrm>
          <a:custGeom>
            <a:avLst/>
            <a:gdLst/>
            <a:ahLst/>
            <a:cxnLst/>
            <a:rect l="l" t="t" r="r" b="b"/>
            <a:pathLst>
              <a:path w="1329972" h="1726374">
                <a:moveTo>
                  <a:pt x="0" y="0"/>
                </a:moveTo>
                <a:lnTo>
                  <a:pt x="1329972" y="0"/>
                </a:lnTo>
                <a:lnTo>
                  <a:pt x="1329972" y="1726374"/>
                </a:lnTo>
                <a:lnTo>
                  <a:pt x="0" y="172637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1523145" y="8493492"/>
            <a:ext cx="1178393" cy="1529616"/>
          </a:xfrm>
          <a:custGeom>
            <a:avLst/>
            <a:gdLst/>
            <a:ahLst/>
            <a:cxnLst/>
            <a:rect l="l" t="t" r="r" b="b"/>
            <a:pathLst>
              <a:path w="1178393" h="1529616">
                <a:moveTo>
                  <a:pt x="0" y="0"/>
                </a:moveTo>
                <a:lnTo>
                  <a:pt x="1178394" y="0"/>
                </a:lnTo>
                <a:lnTo>
                  <a:pt x="1178394" y="1529616"/>
                </a:lnTo>
                <a:lnTo>
                  <a:pt x="0" y="1529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6164638" y="537527"/>
            <a:ext cx="5358507" cy="887095"/>
          </a:xfrm>
          <a:prstGeom prst="rect">
            <a:avLst/>
          </a:prstGeom>
        </p:spPr>
        <p:txBody>
          <a:bodyPr lIns="0" tIns="0" rIns="0" bIns="0" rtlCol="0" anchor="t">
            <a:spAutoFit/>
          </a:bodyPr>
          <a:lstStyle/>
          <a:p>
            <a:pPr algn="ctr">
              <a:lnSpc>
                <a:spcPts val="7279"/>
              </a:lnSpc>
            </a:pPr>
            <a:r>
              <a:rPr lang="en-US" sz="5199" b="1">
                <a:solidFill>
                  <a:srgbClr val="0C76BB"/>
                </a:solidFill>
                <a:latin typeface="Canva Sans Bold"/>
                <a:ea typeface="Canva Sans Bold"/>
                <a:cs typeface="Canva Sans Bold"/>
                <a:sym typeface="Canva Sans Bold"/>
              </a:rPr>
              <a:t>Table of Content</a:t>
            </a:r>
          </a:p>
        </p:txBody>
      </p:sp>
      <p:sp>
        <p:nvSpPr>
          <p:cNvPr id="7" name="TextBox 7"/>
          <p:cNvSpPr txBox="1"/>
          <p:nvPr/>
        </p:nvSpPr>
        <p:spPr>
          <a:xfrm>
            <a:off x="4649089" y="2167401"/>
            <a:ext cx="5150031" cy="6789382"/>
          </a:xfrm>
          <a:prstGeom prst="rect">
            <a:avLst/>
          </a:prstGeom>
        </p:spPr>
        <p:txBody>
          <a:bodyPr lIns="0" tIns="0" rIns="0" bIns="0" rtlCol="0" anchor="t">
            <a:spAutoFit/>
          </a:bodyPr>
          <a:lstStyle/>
          <a:p>
            <a:pPr marL="757524" lvl="1" indent="-378762" algn="l">
              <a:lnSpc>
                <a:spcPts val="4912"/>
              </a:lnSpc>
              <a:buAutoNum type="arabicPeriod"/>
            </a:pPr>
            <a:r>
              <a:rPr lang="en-US" sz="3508">
                <a:solidFill>
                  <a:srgbClr val="000000"/>
                </a:solidFill>
                <a:latin typeface="Canva Sans"/>
                <a:ea typeface="Canva Sans"/>
                <a:cs typeface="Canva Sans"/>
                <a:sym typeface="Canva Sans"/>
              </a:rPr>
              <a:t>Introduction</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Project Objective</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System Architecture</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System Architecture</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Technology Stack</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System Modules</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 Database Design</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Key Features</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Conclusion</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Team</a:t>
            </a:r>
          </a:p>
          <a:p>
            <a:pPr marL="757524" lvl="1" indent="-378762" algn="l">
              <a:lnSpc>
                <a:spcPts val="4912"/>
              </a:lnSpc>
              <a:buAutoNum type="arabicPeriod"/>
            </a:pPr>
            <a:r>
              <a:rPr lang="en-US" sz="3508">
                <a:solidFill>
                  <a:srgbClr val="000000"/>
                </a:solidFill>
                <a:latin typeface="Canva Sans"/>
                <a:ea typeface="Canva Sans"/>
                <a:cs typeface="Canva Sans"/>
                <a:sym typeface="Canva Sans"/>
              </a:rPr>
              <a:t>Thanks note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078390" y="-1509121"/>
            <a:ext cx="2523499" cy="2537821"/>
          </a:xfrm>
          <a:custGeom>
            <a:avLst/>
            <a:gdLst/>
            <a:ahLst/>
            <a:cxnLst/>
            <a:rect l="l" t="t" r="r" b="b"/>
            <a:pathLst>
              <a:path w="2523499" h="2537821">
                <a:moveTo>
                  <a:pt x="0" y="0"/>
                </a:moveTo>
                <a:lnTo>
                  <a:pt x="2523499" y="0"/>
                </a:lnTo>
                <a:lnTo>
                  <a:pt x="2523499" y="2537821"/>
                </a:lnTo>
                <a:lnTo>
                  <a:pt x="0" y="253782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550721" y="7778478"/>
            <a:ext cx="3417158" cy="3436552"/>
          </a:xfrm>
          <a:custGeom>
            <a:avLst/>
            <a:gdLst/>
            <a:ahLst/>
            <a:cxnLst/>
            <a:rect l="l" t="t" r="r" b="b"/>
            <a:pathLst>
              <a:path w="3417158" h="3436552">
                <a:moveTo>
                  <a:pt x="0" y="0"/>
                </a:moveTo>
                <a:lnTo>
                  <a:pt x="3417158" y="0"/>
                </a:lnTo>
                <a:lnTo>
                  <a:pt x="3417158" y="3436552"/>
                </a:lnTo>
                <a:lnTo>
                  <a:pt x="0" y="343655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6448782" y="4091405"/>
            <a:ext cx="1621036" cy="2104190"/>
          </a:xfrm>
          <a:custGeom>
            <a:avLst/>
            <a:gdLst/>
            <a:ahLst/>
            <a:cxnLst/>
            <a:rect l="l" t="t" r="r" b="b"/>
            <a:pathLst>
              <a:path w="1621036" h="2104190">
                <a:moveTo>
                  <a:pt x="0" y="0"/>
                </a:moveTo>
                <a:lnTo>
                  <a:pt x="1621036" y="0"/>
                </a:lnTo>
                <a:lnTo>
                  <a:pt x="1621036" y="2104190"/>
                </a:lnTo>
                <a:lnTo>
                  <a:pt x="0" y="210419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TextBox 5"/>
          <p:cNvSpPr txBox="1"/>
          <p:nvPr/>
        </p:nvSpPr>
        <p:spPr>
          <a:xfrm>
            <a:off x="1685318" y="1375510"/>
            <a:ext cx="14639796" cy="2715895"/>
          </a:xfrm>
          <a:prstGeom prst="rect">
            <a:avLst/>
          </a:prstGeom>
        </p:spPr>
        <p:txBody>
          <a:bodyPr lIns="0" tIns="0" rIns="0" bIns="0" rtlCol="0" anchor="t">
            <a:spAutoFit/>
          </a:bodyPr>
          <a:lstStyle/>
          <a:p>
            <a:pPr algn="l">
              <a:lnSpc>
                <a:spcPts val="3079"/>
              </a:lnSpc>
            </a:pPr>
            <a:r>
              <a:rPr lang="en-US" sz="2199">
                <a:solidFill>
                  <a:srgbClr val="000000"/>
                </a:solidFill>
                <a:latin typeface="Canva Sans"/>
                <a:ea typeface="Canva Sans"/>
                <a:cs typeface="Canva Sans"/>
                <a:sym typeface="Canva Sans"/>
              </a:rPr>
              <a:t>Inventory management is a key part of business operations that ensures products are available in the right quantity at the right time. Proper inventory control helps businesses reduce operational costs, avoid stock shortages, and improve customer satisfaction.</a:t>
            </a:r>
          </a:p>
          <a:p>
            <a:pPr algn="l">
              <a:lnSpc>
                <a:spcPts val="3079"/>
              </a:lnSpc>
            </a:pPr>
            <a:endParaRPr lang="en-US" sz="2199">
              <a:solidFill>
                <a:srgbClr val="000000"/>
              </a:solidFill>
              <a:latin typeface="Canva Sans"/>
              <a:ea typeface="Canva Sans"/>
              <a:cs typeface="Canva Sans"/>
              <a:sym typeface="Canva Sans"/>
            </a:endParaRPr>
          </a:p>
          <a:p>
            <a:pPr algn="l">
              <a:lnSpc>
                <a:spcPts val="3079"/>
              </a:lnSpc>
            </a:pPr>
            <a:r>
              <a:rPr lang="en-US" sz="2199">
                <a:solidFill>
                  <a:srgbClr val="000000"/>
                </a:solidFill>
                <a:latin typeface="Canva Sans"/>
                <a:ea typeface="Canva Sans"/>
                <a:cs typeface="Canva Sans"/>
                <a:sym typeface="Canva Sans"/>
              </a:rPr>
              <a:t>However, many small and medium businesses still rely on manual inventory tracking methods, which create several challenges.</a:t>
            </a:r>
          </a:p>
          <a:p>
            <a:pPr algn="l">
              <a:lnSpc>
                <a:spcPts val="3079"/>
              </a:lnSpc>
            </a:pPr>
            <a:endParaRPr lang="en-US" sz="2199">
              <a:solidFill>
                <a:srgbClr val="000000"/>
              </a:solidFill>
              <a:latin typeface="Canva Sans"/>
              <a:ea typeface="Canva Sans"/>
              <a:cs typeface="Canva Sans"/>
              <a:sym typeface="Canva Sans"/>
            </a:endParaRPr>
          </a:p>
        </p:txBody>
      </p:sp>
      <p:sp>
        <p:nvSpPr>
          <p:cNvPr id="6" name="TextBox 6"/>
          <p:cNvSpPr txBox="1"/>
          <p:nvPr/>
        </p:nvSpPr>
        <p:spPr>
          <a:xfrm>
            <a:off x="1685318" y="4176810"/>
            <a:ext cx="11695509" cy="2715894"/>
          </a:xfrm>
          <a:prstGeom prst="rect">
            <a:avLst/>
          </a:prstGeom>
        </p:spPr>
        <p:txBody>
          <a:bodyPr lIns="0" tIns="0" rIns="0" bIns="0" rtlCol="0" anchor="t">
            <a:spAutoFit/>
          </a:bodyPr>
          <a:lstStyle/>
          <a:p>
            <a:pPr algn="l">
              <a:lnSpc>
                <a:spcPts val="3080"/>
              </a:lnSpc>
            </a:pPr>
            <a:r>
              <a:rPr lang="en-US" sz="2200">
                <a:solidFill>
                  <a:srgbClr val="000000"/>
                </a:solidFill>
                <a:latin typeface="Canva Sans"/>
                <a:ea typeface="Canva Sans"/>
                <a:cs typeface="Canva Sans"/>
                <a:sym typeface="Canva Sans"/>
              </a:rPr>
              <a:t>Challenges of manual inventory systems:</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High chances of human errors</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Delayed updates of stock information</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Difficulty in tracking real-time inventory levels</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Limited ability to generate accurate reports</a:t>
            </a:r>
          </a:p>
          <a:p>
            <a:pPr algn="l">
              <a:lnSpc>
                <a:spcPts val="3080"/>
              </a:lnSpc>
            </a:pPr>
            <a:r>
              <a:rPr lang="en-US" sz="2200">
                <a:solidFill>
                  <a:srgbClr val="000000"/>
                </a:solidFill>
                <a:latin typeface="Canva Sans"/>
                <a:ea typeface="Canva Sans"/>
                <a:cs typeface="Canva Sans"/>
                <a:sym typeface="Canva Sans"/>
              </a:rPr>
              <a:t>To solve these issues, businesses require an automated inventory management system.</a:t>
            </a:r>
          </a:p>
          <a:p>
            <a:pPr algn="l">
              <a:lnSpc>
                <a:spcPts val="3080"/>
              </a:lnSpc>
            </a:pPr>
            <a:endParaRPr lang="en-US" sz="2200">
              <a:solidFill>
                <a:srgbClr val="000000"/>
              </a:solidFill>
              <a:latin typeface="Canva Sans"/>
              <a:ea typeface="Canva Sans"/>
              <a:cs typeface="Canva Sans"/>
              <a:sym typeface="Canva Sans"/>
            </a:endParaRPr>
          </a:p>
        </p:txBody>
      </p:sp>
      <p:sp>
        <p:nvSpPr>
          <p:cNvPr id="7" name="TextBox 7"/>
          <p:cNvSpPr txBox="1"/>
          <p:nvPr/>
        </p:nvSpPr>
        <p:spPr>
          <a:xfrm>
            <a:off x="1685318" y="6854604"/>
            <a:ext cx="13207305" cy="2715894"/>
          </a:xfrm>
          <a:prstGeom prst="rect">
            <a:avLst/>
          </a:prstGeom>
        </p:spPr>
        <p:txBody>
          <a:bodyPr lIns="0" tIns="0" rIns="0" bIns="0" rtlCol="0" anchor="t">
            <a:spAutoFit/>
          </a:bodyPr>
          <a:lstStyle/>
          <a:p>
            <a:pPr algn="l">
              <a:lnSpc>
                <a:spcPts val="3080"/>
              </a:lnSpc>
            </a:pPr>
            <a:r>
              <a:rPr lang="en-US" sz="2200">
                <a:solidFill>
                  <a:srgbClr val="000000"/>
                </a:solidFill>
                <a:latin typeface="Canva Sans"/>
                <a:ea typeface="Canva Sans"/>
                <a:cs typeface="Canva Sans"/>
                <a:sym typeface="Canva Sans"/>
              </a:rPr>
              <a:t>Benefits of an automated system:</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Real-time inventory tracking</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Automated stock updates</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Reporting and analytics for decision-making</a:t>
            </a:r>
          </a:p>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Low-stock alerts to prevent shortages</a:t>
            </a:r>
          </a:p>
          <a:p>
            <a:pPr algn="l">
              <a:lnSpc>
                <a:spcPts val="3080"/>
              </a:lnSpc>
            </a:pPr>
            <a:r>
              <a:rPr lang="en-US" sz="2200">
                <a:solidFill>
                  <a:srgbClr val="000000"/>
                </a:solidFill>
                <a:latin typeface="Canva Sans"/>
                <a:ea typeface="Canva Sans"/>
                <a:cs typeface="Canva Sans"/>
                <a:sym typeface="Canva Sans"/>
              </a:rPr>
              <a:t>Such systems improve efficiency, reduce manual effort, and enable better inventory management.</a:t>
            </a:r>
          </a:p>
          <a:p>
            <a:pPr algn="l">
              <a:lnSpc>
                <a:spcPts val="3080"/>
              </a:lnSpc>
            </a:pPr>
            <a:endParaRPr lang="en-US" sz="2200">
              <a:solidFill>
                <a:srgbClr val="000000"/>
              </a:solidFill>
              <a:latin typeface="Canva Sans"/>
              <a:ea typeface="Canva Sans"/>
              <a:cs typeface="Canva Sans"/>
              <a:sym typeface="Canva Sans"/>
            </a:endParaRPr>
          </a:p>
        </p:txBody>
      </p:sp>
      <p:sp>
        <p:nvSpPr>
          <p:cNvPr id="8" name="TextBox 8"/>
          <p:cNvSpPr txBox="1"/>
          <p:nvPr/>
        </p:nvSpPr>
        <p:spPr>
          <a:xfrm>
            <a:off x="7098308" y="141605"/>
            <a:ext cx="4091385" cy="887095"/>
          </a:xfrm>
          <a:prstGeom prst="rect">
            <a:avLst/>
          </a:prstGeom>
        </p:spPr>
        <p:txBody>
          <a:bodyPr lIns="0" tIns="0" rIns="0" bIns="0" rtlCol="0" anchor="t">
            <a:spAutoFit/>
          </a:bodyPr>
          <a:lstStyle/>
          <a:p>
            <a:pPr algn="ctr">
              <a:lnSpc>
                <a:spcPts val="7279"/>
              </a:lnSpc>
            </a:pPr>
            <a:r>
              <a:rPr lang="en-US" sz="5199" b="1">
                <a:solidFill>
                  <a:srgbClr val="0C76BB"/>
                </a:solidFill>
                <a:latin typeface="Canva Sans Bold"/>
                <a:ea typeface="Canva Sans Bold"/>
                <a:cs typeface="Canva Sans Bold"/>
                <a:sym typeface="Canva Sans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3712265" y="6255768"/>
            <a:ext cx="5742617" cy="5775209"/>
          </a:xfrm>
          <a:custGeom>
            <a:avLst/>
            <a:gdLst/>
            <a:ahLst/>
            <a:cxnLst/>
            <a:rect l="l" t="t" r="r" b="b"/>
            <a:pathLst>
              <a:path w="5742617" h="5775209">
                <a:moveTo>
                  <a:pt x="0" y="0"/>
                </a:moveTo>
                <a:lnTo>
                  <a:pt x="5742617" y="0"/>
                </a:lnTo>
                <a:lnTo>
                  <a:pt x="5742617" y="5775209"/>
                </a:lnTo>
                <a:lnTo>
                  <a:pt x="0" y="57752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13041" y="-2422388"/>
            <a:ext cx="3755291" cy="3776603"/>
          </a:xfrm>
          <a:custGeom>
            <a:avLst/>
            <a:gdLst/>
            <a:ahLst/>
            <a:cxnLst/>
            <a:rect l="l" t="t" r="r" b="b"/>
            <a:pathLst>
              <a:path w="3755291" h="3776603">
                <a:moveTo>
                  <a:pt x="0" y="0"/>
                </a:moveTo>
                <a:lnTo>
                  <a:pt x="3755291" y="0"/>
                </a:lnTo>
                <a:lnTo>
                  <a:pt x="3755291" y="3776603"/>
                </a:lnTo>
                <a:lnTo>
                  <a:pt x="0" y="37766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rot="-1040707" flipH="1">
            <a:off x="15747909" y="738712"/>
            <a:ext cx="1393999" cy="1809483"/>
          </a:xfrm>
          <a:custGeom>
            <a:avLst/>
            <a:gdLst/>
            <a:ahLst/>
            <a:cxnLst/>
            <a:rect l="l" t="t" r="r" b="b"/>
            <a:pathLst>
              <a:path w="1393999" h="1809483">
                <a:moveTo>
                  <a:pt x="1393998" y="0"/>
                </a:moveTo>
                <a:lnTo>
                  <a:pt x="0" y="0"/>
                </a:lnTo>
                <a:lnTo>
                  <a:pt x="0" y="1809483"/>
                </a:lnTo>
                <a:lnTo>
                  <a:pt x="1393998" y="1809483"/>
                </a:lnTo>
                <a:lnTo>
                  <a:pt x="1393998"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rot="-1040707" flipH="1">
            <a:off x="14853265" y="1977975"/>
            <a:ext cx="786041" cy="1020323"/>
          </a:xfrm>
          <a:custGeom>
            <a:avLst/>
            <a:gdLst/>
            <a:ahLst/>
            <a:cxnLst/>
            <a:rect l="l" t="t" r="r" b="b"/>
            <a:pathLst>
              <a:path w="786041" h="1020323">
                <a:moveTo>
                  <a:pt x="786042" y="0"/>
                </a:moveTo>
                <a:lnTo>
                  <a:pt x="0" y="0"/>
                </a:lnTo>
                <a:lnTo>
                  <a:pt x="0" y="1020323"/>
                </a:lnTo>
                <a:lnTo>
                  <a:pt x="786042" y="1020323"/>
                </a:lnTo>
                <a:lnTo>
                  <a:pt x="786042"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2196888" y="3802617"/>
            <a:ext cx="6625977" cy="6711395"/>
          </a:xfrm>
          <a:custGeom>
            <a:avLst/>
            <a:gdLst/>
            <a:ahLst/>
            <a:cxnLst/>
            <a:rect l="l" t="t" r="r" b="b"/>
            <a:pathLst>
              <a:path w="6625977" h="6711395">
                <a:moveTo>
                  <a:pt x="0" y="0"/>
                </a:moveTo>
                <a:lnTo>
                  <a:pt x="6625977" y="0"/>
                </a:lnTo>
                <a:lnTo>
                  <a:pt x="6625977" y="6711394"/>
                </a:lnTo>
                <a:lnTo>
                  <a:pt x="0" y="6711394"/>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TextBox 7"/>
          <p:cNvSpPr txBox="1"/>
          <p:nvPr/>
        </p:nvSpPr>
        <p:spPr>
          <a:xfrm>
            <a:off x="6290659" y="119799"/>
            <a:ext cx="5706682" cy="908901"/>
          </a:xfrm>
          <a:prstGeom prst="rect">
            <a:avLst/>
          </a:prstGeom>
        </p:spPr>
        <p:txBody>
          <a:bodyPr lIns="0" tIns="0" rIns="0" bIns="0" rtlCol="0" anchor="t">
            <a:spAutoFit/>
          </a:bodyPr>
          <a:lstStyle/>
          <a:p>
            <a:pPr algn="ctr">
              <a:lnSpc>
                <a:spcPts val="7423"/>
              </a:lnSpc>
            </a:pPr>
            <a:r>
              <a:rPr lang="en-US" sz="5302" b="1">
                <a:solidFill>
                  <a:srgbClr val="0C76BB"/>
                </a:solidFill>
                <a:latin typeface="Canva Sans Bold"/>
                <a:ea typeface="Canva Sans Bold"/>
                <a:cs typeface="Canva Sans Bold"/>
                <a:sym typeface="Canva Sans Bold"/>
              </a:rPr>
              <a:t>Project Objective</a:t>
            </a:r>
          </a:p>
        </p:txBody>
      </p:sp>
      <p:sp>
        <p:nvSpPr>
          <p:cNvPr id="8" name="TextBox 8"/>
          <p:cNvSpPr txBox="1"/>
          <p:nvPr/>
        </p:nvSpPr>
        <p:spPr>
          <a:xfrm>
            <a:off x="534865" y="1836379"/>
            <a:ext cx="12877229" cy="8191612"/>
          </a:xfrm>
          <a:prstGeom prst="rect">
            <a:avLst/>
          </a:prstGeom>
        </p:spPr>
        <p:txBody>
          <a:bodyPr lIns="0" tIns="0" rIns="0" bIns="0" rtlCol="0" anchor="t">
            <a:spAutoFit/>
          </a:bodyPr>
          <a:lstStyle/>
          <a:p>
            <a:pPr algn="l">
              <a:lnSpc>
                <a:spcPts val="4083"/>
              </a:lnSpc>
            </a:pPr>
            <a:r>
              <a:rPr lang="en-US" sz="2916" b="1">
                <a:solidFill>
                  <a:srgbClr val="000000"/>
                </a:solidFill>
                <a:latin typeface="Canva Sans Bold"/>
                <a:ea typeface="Canva Sans Bold"/>
                <a:cs typeface="Canva Sans Bold"/>
                <a:sym typeface="Canva Sans Bold"/>
              </a:rPr>
              <a:t>1.Automate Inventory Tracking</a:t>
            </a:r>
          </a:p>
          <a:p>
            <a:pPr algn="l">
              <a:lnSpc>
                <a:spcPts val="4083"/>
              </a:lnSpc>
            </a:pPr>
            <a:r>
              <a:rPr lang="en-US" sz="2916">
                <a:solidFill>
                  <a:srgbClr val="000000"/>
                </a:solidFill>
                <a:latin typeface="Canva Sans"/>
                <a:ea typeface="Canva Sans"/>
                <a:cs typeface="Canva Sans"/>
                <a:sym typeface="Canva Sans"/>
              </a:rPr>
              <a:t> Develop a system to efficiently manage and update product stock levels in real time.</a:t>
            </a:r>
          </a:p>
          <a:p>
            <a:pPr algn="l">
              <a:lnSpc>
                <a:spcPts val="4083"/>
              </a:lnSpc>
            </a:pPr>
            <a:endParaRPr lang="en-US" sz="2916">
              <a:solidFill>
                <a:srgbClr val="000000"/>
              </a:solidFill>
              <a:latin typeface="Canva Sans"/>
              <a:ea typeface="Canva Sans"/>
              <a:cs typeface="Canva Sans"/>
              <a:sym typeface="Canva Sans"/>
            </a:endParaRPr>
          </a:p>
          <a:p>
            <a:pPr algn="l">
              <a:lnSpc>
                <a:spcPts val="4083"/>
              </a:lnSpc>
            </a:pPr>
            <a:r>
              <a:rPr lang="en-US" sz="2916" b="1">
                <a:solidFill>
                  <a:srgbClr val="000000"/>
                </a:solidFill>
                <a:latin typeface="Canva Sans Bold"/>
                <a:ea typeface="Canva Sans Bold"/>
                <a:cs typeface="Canva Sans Bold"/>
                <a:sym typeface="Canva Sans Bold"/>
              </a:rPr>
              <a:t>2.Implement Secure User Access</a:t>
            </a:r>
          </a:p>
          <a:p>
            <a:pPr algn="l">
              <a:lnSpc>
                <a:spcPts val="4083"/>
              </a:lnSpc>
            </a:pPr>
            <a:r>
              <a:rPr lang="en-US" sz="2916">
                <a:solidFill>
                  <a:srgbClr val="000000"/>
                </a:solidFill>
                <a:latin typeface="Canva Sans"/>
                <a:ea typeface="Canva Sans"/>
                <a:cs typeface="Canva Sans"/>
                <a:sym typeface="Canva Sans"/>
              </a:rPr>
              <a:t> Provide role-based authentication (Admin/User) to ensure secure access and controlled inventory operations.</a:t>
            </a:r>
          </a:p>
          <a:p>
            <a:pPr algn="l">
              <a:lnSpc>
                <a:spcPts val="4083"/>
              </a:lnSpc>
            </a:pPr>
            <a:endParaRPr lang="en-US" sz="2916">
              <a:solidFill>
                <a:srgbClr val="000000"/>
              </a:solidFill>
              <a:latin typeface="Canva Sans"/>
              <a:ea typeface="Canva Sans"/>
              <a:cs typeface="Canva Sans"/>
              <a:sym typeface="Canva Sans"/>
            </a:endParaRPr>
          </a:p>
          <a:p>
            <a:pPr algn="l">
              <a:lnSpc>
                <a:spcPts val="4083"/>
              </a:lnSpc>
            </a:pPr>
            <a:r>
              <a:rPr lang="en-US" sz="2916" b="1">
                <a:solidFill>
                  <a:srgbClr val="000000"/>
                </a:solidFill>
                <a:latin typeface="Canva Sans Bold"/>
                <a:ea typeface="Canva Sans Bold"/>
                <a:cs typeface="Canva Sans Bold"/>
                <a:sym typeface="Canva Sans Bold"/>
              </a:rPr>
              <a:t>3.Generate Inventory Reports</a:t>
            </a:r>
          </a:p>
          <a:p>
            <a:pPr algn="l">
              <a:lnSpc>
                <a:spcPts val="4083"/>
              </a:lnSpc>
            </a:pPr>
            <a:r>
              <a:rPr lang="en-US" sz="2916">
                <a:solidFill>
                  <a:srgbClr val="000000"/>
                </a:solidFill>
                <a:latin typeface="Canva Sans"/>
                <a:ea typeface="Canva Sans"/>
                <a:cs typeface="Canva Sans"/>
                <a:sym typeface="Canva Sans"/>
              </a:rPr>
              <a:t> Enable generation and export of inventory data such as stock details and summaries for analysis.</a:t>
            </a:r>
          </a:p>
          <a:p>
            <a:pPr algn="l">
              <a:lnSpc>
                <a:spcPts val="4083"/>
              </a:lnSpc>
            </a:pPr>
            <a:endParaRPr lang="en-US" sz="2916">
              <a:solidFill>
                <a:srgbClr val="000000"/>
              </a:solidFill>
              <a:latin typeface="Canva Sans"/>
              <a:ea typeface="Canva Sans"/>
              <a:cs typeface="Canva Sans"/>
              <a:sym typeface="Canva Sans"/>
            </a:endParaRPr>
          </a:p>
          <a:p>
            <a:pPr algn="l">
              <a:lnSpc>
                <a:spcPts val="4083"/>
              </a:lnSpc>
            </a:pPr>
            <a:r>
              <a:rPr lang="en-US" sz="2916" b="1">
                <a:solidFill>
                  <a:srgbClr val="000000"/>
                </a:solidFill>
                <a:latin typeface="Canva Sans Bold"/>
                <a:ea typeface="Canva Sans Bold"/>
                <a:cs typeface="Canva Sans Bold"/>
                <a:sym typeface="Canva Sans Bold"/>
              </a:rPr>
              <a:t>4.Monitor Stock Levels and Alerts</a:t>
            </a:r>
          </a:p>
          <a:p>
            <a:pPr algn="l">
              <a:lnSpc>
                <a:spcPts val="4083"/>
              </a:lnSpc>
            </a:pPr>
            <a:r>
              <a:rPr lang="en-US" sz="2916">
                <a:solidFill>
                  <a:srgbClr val="000000"/>
                </a:solidFill>
                <a:latin typeface="Canva Sans"/>
                <a:ea typeface="Canva Sans"/>
                <a:cs typeface="Canva Sans"/>
                <a:sym typeface="Canva Sans"/>
              </a:rPr>
              <a:t> Detect low-stock products and notify users to maintain optimal inventory levels and prevent shortages.</a:t>
            </a:r>
          </a:p>
          <a:p>
            <a:pPr algn="l">
              <a:lnSpc>
                <a:spcPts val="4083"/>
              </a:lnSpc>
            </a:pPr>
            <a:endParaRPr lang="en-US" sz="2916">
              <a:solidFill>
                <a:srgbClr val="000000"/>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5491964" y="-1916606"/>
            <a:ext cx="4166311" cy="4189956"/>
          </a:xfrm>
          <a:custGeom>
            <a:avLst/>
            <a:gdLst/>
            <a:ahLst/>
            <a:cxnLst/>
            <a:rect l="l" t="t" r="r" b="b"/>
            <a:pathLst>
              <a:path w="4166311" h="4189956">
                <a:moveTo>
                  <a:pt x="0" y="0"/>
                </a:moveTo>
                <a:lnTo>
                  <a:pt x="4166311" y="0"/>
                </a:lnTo>
                <a:lnTo>
                  <a:pt x="4166311" y="4189955"/>
                </a:lnTo>
                <a:lnTo>
                  <a:pt x="0" y="418995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20248" y="9112617"/>
            <a:ext cx="3755291" cy="3776603"/>
          </a:xfrm>
          <a:custGeom>
            <a:avLst/>
            <a:gdLst/>
            <a:ahLst/>
            <a:cxnLst/>
            <a:rect l="l" t="t" r="r" b="b"/>
            <a:pathLst>
              <a:path w="3755291" h="3776603">
                <a:moveTo>
                  <a:pt x="0" y="0"/>
                </a:moveTo>
                <a:lnTo>
                  <a:pt x="3755291" y="0"/>
                </a:lnTo>
                <a:lnTo>
                  <a:pt x="3755291" y="3776603"/>
                </a:lnTo>
                <a:lnTo>
                  <a:pt x="0" y="37766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4002770" y="743733"/>
            <a:ext cx="1178393" cy="1529616"/>
          </a:xfrm>
          <a:custGeom>
            <a:avLst/>
            <a:gdLst/>
            <a:ahLst/>
            <a:cxnLst/>
            <a:rect l="l" t="t" r="r" b="b"/>
            <a:pathLst>
              <a:path w="1178393" h="1529616">
                <a:moveTo>
                  <a:pt x="0" y="0"/>
                </a:moveTo>
                <a:lnTo>
                  <a:pt x="1178393" y="0"/>
                </a:lnTo>
                <a:lnTo>
                  <a:pt x="1178393" y="1529616"/>
                </a:lnTo>
                <a:lnTo>
                  <a:pt x="0" y="1529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1179968" y="4964861"/>
            <a:ext cx="7108032" cy="5322139"/>
          </a:xfrm>
          <a:custGeom>
            <a:avLst/>
            <a:gdLst/>
            <a:ahLst/>
            <a:cxnLst/>
            <a:rect l="l" t="t" r="r" b="b"/>
            <a:pathLst>
              <a:path w="7108032" h="5322139">
                <a:moveTo>
                  <a:pt x="0" y="0"/>
                </a:moveTo>
                <a:lnTo>
                  <a:pt x="7108032" y="0"/>
                </a:lnTo>
                <a:lnTo>
                  <a:pt x="7108032" y="5322139"/>
                </a:lnTo>
                <a:lnTo>
                  <a:pt x="0" y="5322139"/>
                </a:lnTo>
                <a:lnTo>
                  <a:pt x="0" y="0"/>
                </a:lnTo>
                <a:close/>
              </a:path>
            </a:pathLst>
          </a:custGeom>
          <a:blipFill>
            <a:blip r:embed="rId6"/>
            <a:stretch>
              <a:fillRect/>
            </a:stretch>
          </a:blipFill>
        </p:spPr>
      </p:sp>
      <p:sp>
        <p:nvSpPr>
          <p:cNvPr id="6" name="TextBox 6"/>
          <p:cNvSpPr txBox="1"/>
          <p:nvPr/>
        </p:nvSpPr>
        <p:spPr>
          <a:xfrm>
            <a:off x="5399931" y="-29845"/>
            <a:ext cx="6613128" cy="887095"/>
          </a:xfrm>
          <a:prstGeom prst="rect">
            <a:avLst/>
          </a:prstGeom>
        </p:spPr>
        <p:txBody>
          <a:bodyPr lIns="0" tIns="0" rIns="0" bIns="0" rtlCol="0" anchor="t">
            <a:spAutoFit/>
          </a:bodyPr>
          <a:lstStyle/>
          <a:p>
            <a:pPr algn="ctr">
              <a:lnSpc>
                <a:spcPts val="7279"/>
              </a:lnSpc>
            </a:pPr>
            <a:r>
              <a:rPr lang="en-US" sz="5199" b="1">
                <a:solidFill>
                  <a:srgbClr val="0C76BB"/>
                </a:solidFill>
                <a:latin typeface="Canva Sans Bold"/>
                <a:ea typeface="Canva Sans Bold"/>
                <a:cs typeface="Canva Sans Bold"/>
                <a:sym typeface="Canva Sans Bold"/>
              </a:rPr>
              <a:t>System Architecture</a:t>
            </a:r>
          </a:p>
        </p:txBody>
      </p:sp>
      <p:sp>
        <p:nvSpPr>
          <p:cNvPr id="7" name="TextBox 7"/>
          <p:cNvSpPr txBox="1"/>
          <p:nvPr/>
        </p:nvSpPr>
        <p:spPr>
          <a:xfrm>
            <a:off x="1028700" y="981075"/>
            <a:ext cx="12450199" cy="1589404"/>
          </a:xfrm>
          <a:prstGeom prst="rect">
            <a:avLst/>
          </a:prstGeom>
        </p:spPr>
        <p:txBody>
          <a:bodyPr lIns="0" tIns="0" rIns="0" bIns="0" rtlCol="0" anchor="t">
            <a:spAutoFit/>
          </a:bodyPr>
          <a:lstStyle/>
          <a:p>
            <a:pPr algn="l">
              <a:lnSpc>
                <a:spcPts val="3220"/>
              </a:lnSpc>
            </a:pPr>
            <a:r>
              <a:rPr lang="en-US" sz="2300">
                <a:solidFill>
                  <a:srgbClr val="000000"/>
                </a:solidFill>
                <a:latin typeface="Canva Sans"/>
                <a:ea typeface="Canva Sans"/>
                <a:cs typeface="Canva Sans"/>
                <a:sym typeface="Canva Sans"/>
              </a:rPr>
              <a:t>The Inventory Management System follows a layered architecture, where each layer is responsible for a specific function. This structure improves code organization, maintainability, and scalability. Data flows from the user interface to the database through different layers, each handling a particular task in the system.</a:t>
            </a:r>
          </a:p>
        </p:txBody>
      </p:sp>
      <p:sp>
        <p:nvSpPr>
          <p:cNvPr id="8" name="TextBox 8"/>
          <p:cNvSpPr txBox="1"/>
          <p:nvPr/>
        </p:nvSpPr>
        <p:spPr>
          <a:xfrm>
            <a:off x="2316989" y="3096895"/>
            <a:ext cx="11403835" cy="7190105"/>
          </a:xfrm>
          <a:prstGeom prst="rect">
            <a:avLst/>
          </a:prstGeom>
        </p:spPr>
        <p:txBody>
          <a:bodyPr lIns="0" tIns="0" rIns="0" bIns="0" rtlCol="0" anchor="t">
            <a:spAutoFit/>
          </a:bodyPr>
          <a:lstStyle/>
          <a:p>
            <a:pPr algn="l">
              <a:lnSpc>
                <a:spcPts val="3220"/>
              </a:lnSpc>
            </a:pPr>
            <a:r>
              <a:rPr lang="en-US" sz="2300" b="1">
                <a:solidFill>
                  <a:srgbClr val="000000"/>
                </a:solidFill>
                <a:latin typeface="Canva Sans Bold"/>
                <a:ea typeface="Canva Sans Bold"/>
                <a:cs typeface="Canva Sans Bold"/>
                <a:sym typeface="Canva Sans Bold"/>
              </a:rPr>
              <a:t>1. User Interface (Frontend)</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Built using HTML, CSS, Bootstrap, and Thymeleaf</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Provides pages like Login, Dashboard, and Product Management</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Enables user interaction with the system</a:t>
            </a:r>
          </a:p>
          <a:p>
            <a:pPr algn="l">
              <a:lnSpc>
                <a:spcPts val="3220"/>
              </a:lnSpc>
            </a:pPr>
            <a:r>
              <a:rPr lang="en-US" sz="2300" b="1">
                <a:solidFill>
                  <a:srgbClr val="000000"/>
                </a:solidFill>
                <a:latin typeface="Canva Sans Bold"/>
                <a:ea typeface="Canva Sans Bold"/>
                <a:cs typeface="Canva Sans Bold"/>
                <a:sym typeface="Canva Sans Bold"/>
              </a:rPr>
              <a:t>2. Controller Layer</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Handles HTTP requests and responses</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Connects frontend with backend logic</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Implemented using Spring Boot Controllers</a:t>
            </a:r>
          </a:p>
          <a:p>
            <a:pPr algn="l">
              <a:lnSpc>
                <a:spcPts val="3220"/>
              </a:lnSpc>
            </a:pPr>
            <a:r>
              <a:rPr lang="en-US" sz="2300" b="1">
                <a:solidFill>
                  <a:srgbClr val="000000"/>
                </a:solidFill>
                <a:latin typeface="Canva Sans Bold"/>
                <a:ea typeface="Canva Sans Bold"/>
                <a:cs typeface="Canva Sans Bold"/>
                <a:sym typeface="Canva Sans Bold"/>
              </a:rPr>
              <a:t>3. Service Layer</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Contains business logic</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Manages product operations, stock updates, and inventory calculations</a:t>
            </a:r>
          </a:p>
          <a:p>
            <a:pPr algn="l">
              <a:lnSpc>
                <a:spcPts val="3220"/>
              </a:lnSpc>
            </a:pPr>
            <a:r>
              <a:rPr lang="en-US" sz="2300" b="1">
                <a:solidFill>
                  <a:srgbClr val="000000"/>
                </a:solidFill>
                <a:latin typeface="Canva Sans Bold"/>
                <a:ea typeface="Canva Sans Bold"/>
                <a:cs typeface="Canva Sans Bold"/>
                <a:sym typeface="Canva Sans Bold"/>
              </a:rPr>
              <a:t>4. Repository Layer</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Handles database interactions</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Uses Spring Data JPA for CRUD operations</a:t>
            </a:r>
          </a:p>
          <a:p>
            <a:pPr algn="l">
              <a:lnSpc>
                <a:spcPts val="3220"/>
              </a:lnSpc>
            </a:pPr>
            <a:r>
              <a:rPr lang="en-US" sz="2300" b="1">
                <a:solidFill>
                  <a:srgbClr val="000000"/>
                </a:solidFill>
                <a:latin typeface="Canva Sans Bold"/>
                <a:ea typeface="Canva Sans Bold"/>
                <a:cs typeface="Canva Sans Bold"/>
                <a:sym typeface="Canva Sans Bold"/>
              </a:rPr>
              <a:t>5. Database Layer</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Stores users, products, and inventory data</a:t>
            </a:r>
          </a:p>
          <a:p>
            <a:pPr marL="496571" lvl="1" indent="-248285" algn="l">
              <a:lnSpc>
                <a:spcPts val="3220"/>
              </a:lnSpc>
              <a:buFont typeface="Arial"/>
              <a:buChar char="•"/>
            </a:pPr>
            <a:r>
              <a:rPr lang="en-US" sz="2300">
                <a:solidFill>
                  <a:srgbClr val="000000"/>
                </a:solidFill>
                <a:latin typeface="Canva Sans"/>
                <a:ea typeface="Canva Sans"/>
                <a:cs typeface="Canva Sans"/>
                <a:sym typeface="Canva Sans"/>
              </a:rPr>
              <a:t>Implemented using MySQL</a:t>
            </a:r>
          </a:p>
          <a:p>
            <a:pPr algn="l">
              <a:lnSpc>
                <a:spcPts val="3220"/>
              </a:lnSpc>
            </a:pPr>
            <a:endParaRPr lang="en-US" sz="2300">
              <a:solidFill>
                <a:srgbClr val="000000"/>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5491964" y="-1916606"/>
            <a:ext cx="4166311" cy="4189956"/>
          </a:xfrm>
          <a:custGeom>
            <a:avLst/>
            <a:gdLst/>
            <a:ahLst/>
            <a:cxnLst/>
            <a:rect l="l" t="t" r="r" b="b"/>
            <a:pathLst>
              <a:path w="4166311" h="4189956">
                <a:moveTo>
                  <a:pt x="0" y="0"/>
                </a:moveTo>
                <a:lnTo>
                  <a:pt x="4166311" y="0"/>
                </a:lnTo>
                <a:lnTo>
                  <a:pt x="4166311" y="4189955"/>
                </a:lnTo>
                <a:lnTo>
                  <a:pt x="0" y="418995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20248" y="9112617"/>
            <a:ext cx="3755291" cy="3776603"/>
          </a:xfrm>
          <a:custGeom>
            <a:avLst/>
            <a:gdLst/>
            <a:ahLst/>
            <a:cxnLst/>
            <a:rect l="l" t="t" r="r" b="b"/>
            <a:pathLst>
              <a:path w="3755291" h="3776603">
                <a:moveTo>
                  <a:pt x="0" y="0"/>
                </a:moveTo>
                <a:lnTo>
                  <a:pt x="3755291" y="0"/>
                </a:lnTo>
                <a:lnTo>
                  <a:pt x="3755291" y="3776603"/>
                </a:lnTo>
                <a:lnTo>
                  <a:pt x="0" y="37766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4002770" y="743733"/>
            <a:ext cx="1178393" cy="1529616"/>
          </a:xfrm>
          <a:custGeom>
            <a:avLst/>
            <a:gdLst/>
            <a:ahLst/>
            <a:cxnLst/>
            <a:rect l="l" t="t" r="r" b="b"/>
            <a:pathLst>
              <a:path w="1178393" h="1529616">
                <a:moveTo>
                  <a:pt x="0" y="0"/>
                </a:moveTo>
                <a:lnTo>
                  <a:pt x="1178393" y="0"/>
                </a:lnTo>
                <a:lnTo>
                  <a:pt x="1178393" y="1529616"/>
                </a:lnTo>
                <a:lnTo>
                  <a:pt x="0" y="1529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2651642" y="5313580"/>
            <a:ext cx="5268407" cy="3944720"/>
          </a:xfrm>
          <a:custGeom>
            <a:avLst/>
            <a:gdLst/>
            <a:ahLst/>
            <a:cxnLst/>
            <a:rect l="l" t="t" r="r" b="b"/>
            <a:pathLst>
              <a:path w="5268407" h="3944720">
                <a:moveTo>
                  <a:pt x="0" y="0"/>
                </a:moveTo>
                <a:lnTo>
                  <a:pt x="5268407" y="0"/>
                </a:lnTo>
                <a:lnTo>
                  <a:pt x="5268407" y="3944720"/>
                </a:lnTo>
                <a:lnTo>
                  <a:pt x="0" y="3944720"/>
                </a:lnTo>
                <a:lnTo>
                  <a:pt x="0" y="0"/>
                </a:lnTo>
                <a:close/>
              </a:path>
            </a:pathLst>
          </a:custGeom>
          <a:blipFill>
            <a:blip r:embed="rId6"/>
            <a:stretch>
              <a:fillRect/>
            </a:stretch>
          </a:blipFill>
        </p:spPr>
      </p:sp>
      <p:sp>
        <p:nvSpPr>
          <p:cNvPr id="6" name="Freeform 6"/>
          <p:cNvSpPr/>
          <p:nvPr/>
        </p:nvSpPr>
        <p:spPr>
          <a:xfrm>
            <a:off x="2569389" y="1667802"/>
            <a:ext cx="7019412" cy="8486155"/>
          </a:xfrm>
          <a:custGeom>
            <a:avLst/>
            <a:gdLst/>
            <a:ahLst/>
            <a:cxnLst/>
            <a:rect l="l" t="t" r="r" b="b"/>
            <a:pathLst>
              <a:path w="7019412" h="8486155">
                <a:moveTo>
                  <a:pt x="0" y="0"/>
                </a:moveTo>
                <a:lnTo>
                  <a:pt x="7019412" y="0"/>
                </a:lnTo>
                <a:lnTo>
                  <a:pt x="7019412" y="8486155"/>
                </a:lnTo>
                <a:lnTo>
                  <a:pt x="0" y="8486155"/>
                </a:lnTo>
                <a:lnTo>
                  <a:pt x="0" y="0"/>
                </a:lnTo>
                <a:close/>
              </a:path>
            </a:pathLst>
          </a:custGeom>
          <a:blipFill>
            <a:blip r:embed="rId7"/>
            <a:stretch>
              <a:fillRect/>
            </a:stretch>
          </a:blipFill>
        </p:spPr>
      </p:sp>
      <p:sp>
        <p:nvSpPr>
          <p:cNvPr id="7" name="TextBox 7"/>
          <p:cNvSpPr txBox="1"/>
          <p:nvPr/>
        </p:nvSpPr>
        <p:spPr>
          <a:xfrm>
            <a:off x="1446136" y="237198"/>
            <a:ext cx="9192140" cy="1430605"/>
          </a:xfrm>
          <a:prstGeom prst="rect">
            <a:avLst/>
          </a:prstGeom>
        </p:spPr>
        <p:txBody>
          <a:bodyPr lIns="0" tIns="0" rIns="0" bIns="0" rtlCol="0" anchor="t">
            <a:spAutoFit/>
          </a:bodyPr>
          <a:lstStyle/>
          <a:p>
            <a:pPr algn="ctr">
              <a:lnSpc>
                <a:spcPts val="11789"/>
              </a:lnSpc>
            </a:pPr>
            <a:r>
              <a:rPr lang="en-US" sz="8421" b="1">
                <a:solidFill>
                  <a:srgbClr val="0C76BB"/>
                </a:solidFill>
                <a:latin typeface="Canva Sans Bold"/>
                <a:ea typeface="Canva Sans Bold"/>
                <a:cs typeface="Canva Sans Bold"/>
                <a:sym typeface="Canva Sans Bold"/>
              </a:rPr>
              <a:t>Technology Stack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5880662" y="7775668"/>
            <a:ext cx="4166311" cy="4189956"/>
          </a:xfrm>
          <a:custGeom>
            <a:avLst/>
            <a:gdLst/>
            <a:ahLst/>
            <a:cxnLst/>
            <a:rect l="l" t="t" r="r" b="b"/>
            <a:pathLst>
              <a:path w="4166311" h="4189956">
                <a:moveTo>
                  <a:pt x="0" y="0"/>
                </a:moveTo>
                <a:lnTo>
                  <a:pt x="4166311" y="0"/>
                </a:lnTo>
                <a:lnTo>
                  <a:pt x="4166311" y="4189955"/>
                </a:lnTo>
                <a:lnTo>
                  <a:pt x="0" y="418995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482866" y="-1657885"/>
            <a:ext cx="3755291" cy="3776603"/>
          </a:xfrm>
          <a:custGeom>
            <a:avLst/>
            <a:gdLst/>
            <a:ahLst/>
            <a:cxnLst/>
            <a:rect l="l" t="t" r="r" b="b"/>
            <a:pathLst>
              <a:path w="3755291" h="3776603">
                <a:moveTo>
                  <a:pt x="0" y="0"/>
                </a:moveTo>
                <a:lnTo>
                  <a:pt x="3755291" y="0"/>
                </a:lnTo>
                <a:lnTo>
                  <a:pt x="3755291" y="3776604"/>
                </a:lnTo>
                <a:lnTo>
                  <a:pt x="0" y="377660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112866">
            <a:off x="881354" y="8193334"/>
            <a:ext cx="1178393" cy="1529616"/>
          </a:xfrm>
          <a:custGeom>
            <a:avLst/>
            <a:gdLst/>
            <a:ahLst/>
            <a:cxnLst/>
            <a:rect l="l" t="t" r="r" b="b"/>
            <a:pathLst>
              <a:path w="1178393" h="1529616">
                <a:moveTo>
                  <a:pt x="0" y="0"/>
                </a:moveTo>
                <a:lnTo>
                  <a:pt x="1178393" y="0"/>
                </a:lnTo>
                <a:lnTo>
                  <a:pt x="1178393" y="1529616"/>
                </a:lnTo>
                <a:lnTo>
                  <a:pt x="0" y="15296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1040707" flipH="1">
            <a:off x="16218552" y="878646"/>
            <a:ext cx="1178393" cy="1529616"/>
          </a:xfrm>
          <a:custGeom>
            <a:avLst/>
            <a:gdLst/>
            <a:ahLst/>
            <a:cxnLst/>
            <a:rect l="l" t="t" r="r" b="b"/>
            <a:pathLst>
              <a:path w="1178393" h="1529616">
                <a:moveTo>
                  <a:pt x="1178393" y="0"/>
                </a:moveTo>
                <a:lnTo>
                  <a:pt x="0" y="0"/>
                </a:lnTo>
                <a:lnTo>
                  <a:pt x="0" y="1529616"/>
                </a:lnTo>
                <a:lnTo>
                  <a:pt x="1178393" y="1529616"/>
                </a:lnTo>
                <a:lnTo>
                  <a:pt x="1178393"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2493818" y="2080619"/>
            <a:ext cx="12025116" cy="6682739"/>
          </a:xfrm>
          <a:prstGeom prst="rect">
            <a:avLst/>
          </a:prstGeom>
        </p:spPr>
        <p:txBody>
          <a:bodyPr lIns="0" tIns="0" rIns="0" bIns="0" rtlCol="0" anchor="t">
            <a:spAutoFit/>
          </a:bodyPr>
          <a:lstStyle/>
          <a:p>
            <a:pPr algn="l">
              <a:lnSpc>
                <a:spcPts val="3360"/>
              </a:lnSpc>
            </a:pPr>
            <a:r>
              <a:rPr lang="en-US" sz="2400" b="1">
                <a:solidFill>
                  <a:srgbClr val="000000"/>
                </a:solidFill>
                <a:latin typeface="Canva Sans Bold"/>
                <a:ea typeface="Canva Sans Bold"/>
                <a:cs typeface="Canva Sans Bold"/>
                <a:sym typeface="Canva Sans Bold"/>
              </a:rPr>
              <a:t>1. Inventory Tracking Engine</a:t>
            </a:r>
          </a:p>
          <a:p>
            <a:pPr algn="l">
              <a:lnSpc>
                <a:spcPts val="3360"/>
              </a:lnSpc>
            </a:pPr>
            <a:r>
              <a:rPr lang="en-US" sz="2400">
                <a:solidFill>
                  <a:srgbClr val="000000"/>
                </a:solidFill>
                <a:latin typeface="Canva Sans"/>
                <a:ea typeface="Canva Sans"/>
                <a:cs typeface="Canva Sans"/>
                <a:sym typeface="Canva Sans"/>
              </a:rPr>
              <a:t> Manages core inventory operations such as adding products, updating stock levels, and viewing product details. It ensures accurate tracking of inventory data.</a:t>
            </a:r>
          </a:p>
          <a:p>
            <a:pPr algn="l">
              <a:lnSpc>
                <a:spcPts val="3360"/>
              </a:lnSpc>
            </a:pPr>
            <a:endParaRPr lang="en-US" sz="2400">
              <a:solidFill>
                <a:srgbClr val="000000"/>
              </a:solidFill>
              <a:latin typeface="Canva Sans"/>
              <a:ea typeface="Canva Sans"/>
              <a:cs typeface="Canva Sans"/>
              <a:sym typeface="Canva Sans"/>
            </a:endParaRPr>
          </a:p>
          <a:p>
            <a:pPr algn="l">
              <a:lnSpc>
                <a:spcPts val="3360"/>
              </a:lnSpc>
            </a:pPr>
            <a:r>
              <a:rPr lang="en-US" sz="2400" b="1">
                <a:solidFill>
                  <a:srgbClr val="000000"/>
                </a:solidFill>
                <a:latin typeface="Canva Sans Bold"/>
                <a:ea typeface="Canva Sans Bold"/>
                <a:cs typeface="Canva Sans Bold"/>
                <a:sym typeface="Canva Sans Bold"/>
              </a:rPr>
              <a:t>2. User Authentication System</a:t>
            </a:r>
          </a:p>
          <a:p>
            <a:pPr algn="l">
              <a:lnSpc>
                <a:spcPts val="3360"/>
              </a:lnSpc>
            </a:pPr>
            <a:r>
              <a:rPr lang="en-US" sz="2400">
                <a:solidFill>
                  <a:srgbClr val="000000"/>
                </a:solidFill>
                <a:latin typeface="Canva Sans"/>
                <a:ea typeface="Canva Sans"/>
                <a:cs typeface="Canva Sans"/>
                <a:sym typeface="Canva Sans"/>
              </a:rPr>
              <a:t> Provides secure login and role-based access control to ensure that only authorized users can manage or modify inventory information.</a:t>
            </a:r>
          </a:p>
          <a:p>
            <a:pPr algn="l">
              <a:lnSpc>
                <a:spcPts val="3360"/>
              </a:lnSpc>
            </a:pPr>
            <a:endParaRPr lang="en-US" sz="2400">
              <a:solidFill>
                <a:srgbClr val="000000"/>
              </a:solidFill>
              <a:latin typeface="Canva Sans"/>
              <a:ea typeface="Canva Sans"/>
              <a:cs typeface="Canva Sans"/>
              <a:sym typeface="Canva Sans"/>
            </a:endParaRPr>
          </a:p>
          <a:p>
            <a:pPr algn="l">
              <a:lnSpc>
                <a:spcPts val="3360"/>
              </a:lnSpc>
            </a:pPr>
            <a:r>
              <a:rPr lang="en-US" sz="2400" b="1">
                <a:solidFill>
                  <a:srgbClr val="000000"/>
                </a:solidFill>
                <a:latin typeface="Canva Sans Bold"/>
                <a:ea typeface="Canva Sans Bold"/>
                <a:cs typeface="Canva Sans Bold"/>
                <a:sym typeface="Canva Sans Bold"/>
              </a:rPr>
              <a:t>3. Reporting and CSV Integration</a:t>
            </a:r>
          </a:p>
          <a:p>
            <a:pPr algn="l">
              <a:lnSpc>
                <a:spcPts val="3360"/>
              </a:lnSpc>
            </a:pPr>
            <a:r>
              <a:rPr lang="en-US" sz="2400">
                <a:solidFill>
                  <a:srgbClr val="000000"/>
                </a:solidFill>
                <a:latin typeface="Canva Sans"/>
                <a:ea typeface="Canva Sans"/>
                <a:cs typeface="Canva Sans"/>
                <a:sym typeface="Canva Sans"/>
              </a:rPr>
              <a:t> Generates inventory reports and summaries and allows exporting data into CSV files for analysis and record-keeping.</a:t>
            </a:r>
          </a:p>
          <a:p>
            <a:pPr algn="l">
              <a:lnSpc>
                <a:spcPts val="3360"/>
              </a:lnSpc>
            </a:pPr>
            <a:endParaRPr lang="en-US" sz="2400">
              <a:solidFill>
                <a:srgbClr val="000000"/>
              </a:solidFill>
              <a:latin typeface="Canva Sans"/>
              <a:ea typeface="Canva Sans"/>
              <a:cs typeface="Canva Sans"/>
              <a:sym typeface="Canva Sans"/>
            </a:endParaRPr>
          </a:p>
          <a:p>
            <a:pPr algn="l">
              <a:lnSpc>
                <a:spcPts val="3360"/>
              </a:lnSpc>
            </a:pPr>
            <a:r>
              <a:rPr lang="en-US" sz="2400" b="1">
                <a:solidFill>
                  <a:srgbClr val="000000"/>
                </a:solidFill>
                <a:latin typeface="Canva Sans Bold"/>
                <a:ea typeface="Canva Sans Bold"/>
                <a:cs typeface="Canva Sans Bold"/>
                <a:sym typeface="Canva Sans Bold"/>
              </a:rPr>
              <a:t>4. Stock Alert System</a:t>
            </a:r>
          </a:p>
          <a:p>
            <a:pPr algn="l">
              <a:lnSpc>
                <a:spcPts val="3360"/>
              </a:lnSpc>
            </a:pPr>
            <a:r>
              <a:rPr lang="en-US" sz="2400">
                <a:solidFill>
                  <a:srgbClr val="000000"/>
                </a:solidFill>
                <a:latin typeface="Canva Sans"/>
                <a:ea typeface="Canva Sans"/>
                <a:cs typeface="Canva Sans"/>
                <a:sym typeface="Canva Sans"/>
              </a:rPr>
              <a:t> Monitors inventory levels and detects low-stock products, helping users reorder items on time and avoid shortages.</a:t>
            </a:r>
          </a:p>
          <a:p>
            <a:pPr algn="l">
              <a:lnSpc>
                <a:spcPts val="3360"/>
              </a:lnSpc>
            </a:pPr>
            <a:endParaRPr lang="en-US" sz="2400">
              <a:solidFill>
                <a:srgbClr val="000000"/>
              </a:solidFill>
              <a:latin typeface="Canva Sans"/>
              <a:ea typeface="Canva Sans"/>
              <a:cs typeface="Canva Sans"/>
              <a:sym typeface="Canva Sans"/>
            </a:endParaRPr>
          </a:p>
        </p:txBody>
      </p:sp>
      <p:sp>
        <p:nvSpPr>
          <p:cNvPr id="7" name="TextBox 7"/>
          <p:cNvSpPr txBox="1"/>
          <p:nvPr/>
        </p:nvSpPr>
        <p:spPr>
          <a:xfrm>
            <a:off x="6229689" y="537527"/>
            <a:ext cx="5318522" cy="887095"/>
          </a:xfrm>
          <a:prstGeom prst="rect">
            <a:avLst/>
          </a:prstGeom>
        </p:spPr>
        <p:txBody>
          <a:bodyPr lIns="0" tIns="0" rIns="0" bIns="0" rtlCol="0" anchor="t">
            <a:spAutoFit/>
          </a:bodyPr>
          <a:lstStyle/>
          <a:p>
            <a:pPr algn="ctr">
              <a:lnSpc>
                <a:spcPts val="7279"/>
              </a:lnSpc>
            </a:pPr>
            <a:r>
              <a:rPr lang="en-US" sz="5199" b="1">
                <a:solidFill>
                  <a:srgbClr val="0C76BB"/>
                </a:solidFill>
                <a:latin typeface="Canva Sans Bold"/>
                <a:ea typeface="Canva Sans Bold"/>
                <a:cs typeface="Canva Sans Bold"/>
                <a:sym typeface="Canva Sans Bold"/>
              </a:rPr>
              <a:t>System Modules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5688596" y="8243315"/>
            <a:ext cx="3766286" cy="3787662"/>
          </a:xfrm>
          <a:custGeom>
            <a:avLst/>
            <a:gdLst/>
            <a:ahLst/>
            <a:cxnLst/>
            <a:rect l="l" t="t" r="r" b="b"/>
            <a:pathLst>
              <a:path w="3766286" h="3787662">
                <a:moveTo>
                  <a:pt x="0" y="0"/>
                </a:moveTo>
                <a:lnTo>
                  <a:pt x="3766286" y="0"/>
                </a:lnTo>
                <a:lnTo>
                  <a:pt x="3766286" y="3787662"/>
                </a:lnTo>
                <a:lnTo>
                  <a:pt x="0" y="3787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13041" y="-2422388"/>
            <a:ext cx="3755291" cy="3776603"/>
          </a:xfrm>
          <a:custGeom>
            <a:avLst/>
            <a:gdLst/>
            <a:ahLst/>
            <a:cxnLst/>
            <a:rect l="l" t="t" r="r" b="b"/>
            <a:pathLst>
              <a:path w="3755291" h="3776603">
                <a:moveTo>
                  <a:pt x="0" y="0"/>
                </a:moveTo>
                <a:lnTo>
                  <a:pt x="3755291" y="0"/>
                </a:lnTo>
                <a:lnTo>
                  <a:pt x="3755291" y="3776603"/>
                </a:lnTo>
                <a:lnTo>
                  <a:pt x="0" y="37766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rot="-1040707" flipH="1">
            <a:off x="15747909" y="738712"/>
            <a:ext cx="1393999" cy="1809483"/>
          </a:xfrm>
          <a:custGeom>
            <a:avLst/>
            <a:gdLst/>
            <a:ahLst/>
            <a:cxnLst/>
            <a:rect l="l" t="t" r="r" b="b"/>
            <a:pathLst>
              <a:path w="1393999" h="1809483">
                <a:moveTo>
                  <a:pt x="1393998" y="0"/>
                </a:moveTo>
                <a:lnTo>
                  <a:pt x="0" y="0"/>
                </a:lnTo>
                <a:lnTo>
                  <a:pt x="0" y="1809483"/>
                </a:lnTo>
                <a:lnTo>
                  <a:pt x="1393998" y="1809483"/>
                </a:lnTo>
                <a:lnTo>
                  <a:pt x="1393998"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rot="-1040707" flipH="1">
            <a:off x="16986919" y="3604625"/>
            <a:ext cx="786041" cy="1020323"/>
          </a:xfrm>
          <a:custGeom>
            <a:avLst/>
            <a:gdLst/>
            <a:ahLst/>
            <a:cxnLst/>
            <a:rect l="l" t="t" r="r" b="b"/>
            <a:pathLst>
              <a:path w="786041" h="1020323">
                <a:moveTo>
                  <a:pt x="786042" y="0"/>
                </a:moveTo>
                <a:lnTo>
                  <a:pt x="0" y="0"/>
                </a:lnTo>
                <a:lnTo>
                  <a:pt x="0" y="1020323"/>
                </a:lnTo>
                <a:lnTo>
                  <a:pt x="786042" y="1020323"/>
                </a:lnTo>
                <a:lnTo>
                  <a:pt x="786042"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3827940" y="5514726"/>
            <a:ext cx="4711536" cy="4772274"/>
          </a:xfrm>
          <a:custGeom>
            <a:avLst/>
            <a:gdLst/>
            <a:ahLst/>
            <a:cxnLst/>
            <a:rect l="l" t="t" r="r" b="b"/>
            <a:pathLst>
              <a:path w="4711536" h="4772274">
                <a:moveTo>
                  <a:pt x="0" y="0"/>
                </a:moveTo>
                <a:lnTo>
                  <a:pt x="4711536" y="0"/>
                </a:lnTo>
                <a:lnTo>
                  <a:pt x="4711536" y="4772274"/>
                </a:lnTo>
                <a:lnTo>
                  <a:pt x="0" y="4772274"/>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TextBox 7"/>
          <p:cNvSpPr txBox="1"/>
          <p:nvPr/>
        </p:nvSpPr>
        <p:spPr>
          <a:xfrm>
            <a:off x="5575810" y="476810"/>
            <a:ext cx="5549404" cy="887095"/>
          </a:xfrm>
          <a:prstGeom prst="rect">
            <a:avLst/>
          </a:prstGeom>
        </p:spPr>
        <p:txBody>
          <a:bodyPr lIns="0" tIns="0" rIns="0" bIns="0" rtlCol="0" anchor="t">
            <a:spAutoFit/>
          </a:bodyPr>
          <a:lstStyle/>
          <a:p>
            <a:pPr algn="ctr">
              <a:lnSpc>
                <a:spcPts val="7279"/>
              </a:lnSpc>
              <a:spcBef>
                <a:spcPct val="0"/>
              </a:spcBef>
            </a:pPr>
            <a:r>
              <a:rPr lang="en-US" sz="5199" b="1">
                <a:solidFill>
                  <a:srgbClr val="0C76BB"/>
                </a:solidFill>
                <a:latin typeface="Canva Sans Bold"/>
                <a:ea typeface="Canva Sans Bold"/>
                <a:cs typeface="Canva Sans Bold"/>
                <a:sym typeface="Canva Sans Bold"/>
              </a:rPr>
              <a:t> Database Design</a:t>
            </a:r>
          </a:p>
        </p:txBody>
      </p:sp>
      <p:sp>
        <p:nvSpPr>
          <p:cNvPr id="8" name="TextBox 8"/>
          <p:cNvSpPr txBox="1"/>
          <p:nvPr/>
        </p:nvSpPr>
        <p:spPr>
          <a:xfrm>
            <a:off x="664604" y="1809352"/>
            <a:ext cx="3619103" cy="1047557"/>
          </a:xfrm>
          <a:prstGeom prst="rect">
            <a:avLst/>
          </a:prstGeom>
        </p:spPr>
        <p:txBody>
          <a:bodyPr lIns="0" tIns="0" rIns="0" bIns="0" rtlCol="0" anchor="t">
            <a:spAutoFit/>
          </a:bodyPr>
          <a:lstStyle/>
          <a:p>
            <a:pPr algn="l">
              <a:lnSpc>
                <a:spcPts val="4210"/>
              </a:lnSpc>
            </a:pPr>
            <a:r>
              <a:rPr lang="en-US" sz="3007">
                <a:solidFill>
                  <a:srgbClr val="000000"/>
                </a:solidFill>
                <a:latin typeface="Canva Sans"/>
                <a:ea typeface="Canva Sans"/>
                <a:cs typeface="Canva Sans"/>
                <a:sym typeface="Canva Sans"/>
              </a:rPr>
              <a:t>🗂️ Tables Overview</a:t>
            </a:r>
          </a:p>
          <a:p>
            <a:pPr algn="l">
              <a:lnSpc>
                <a:spcPts val="4210"/>
              </a:lnSpc>
            </a:pPr>
            <a:endParaRPr lang="en-US" sz="3007">
              <a:solidFill>
                <a:srgbClr val="000000"/>
              </a:solidFill>
              <a:latin typeface="Canva Sans"/>
              <a:ea typeface="Canva Sans"/>
              <a:cs typeface="Canva Sans"/>
              <a:sym typeface="Canva Sans"/>
            </a:endParaRPr>
          </a:p>
        </p:txBody>
      </p:sp>
      <p:sp>
        <p:nvSpPr>
          <p:cNvPr id="9" name="TextBox 9"/>
          <p:cNvSpPr txBox="1"/>
          <p:nvPr/>
        </p:nvSpPr>
        <p:spPr>
          <a:xfrm>
            <a:off x="390228" y="2667223"/>
            <a:ext cx="16462470" cy="7118494"/>
          </a:xfrm>
          <a:prstGeom prst="rect">
            <a:avLst/>
          </a:prstGeom>
        </p:spPr>
        <p:txBody>
          <a:bodyPr lIns="0" tIns="0" rIns="0" bIns="0" rtlCol="0" anchor="t">
            <a:spAutoFit/>
          </a:bodyPr>
          <a:lstStyle/>
          <a:p>
            <a:pPr algn="l">
              <a:lnSpc>
                <a:spcPts val="3546"/>
              </a:lnSpc>
            </a:pPr>
            <a:r>
              <a:rPr lang="en-US" sz="2533">
                <a:solidFill>
                  <a:srgbClr val="000000"/>
                </a:solidFill>
                <a:latin typeface="Canva Sans"/>
                <a:ea typeface="Canva Sans"/>
                <a:cs typeface="Canva Sans"/>
                <a:sym typeface="Canva Sans"/>
              </a:rPr>
              <a:t>The system is designed using three core tables to manage products, track stock changes, and handle users:</a:t>
            </a:r>
          </a:p>
          <a:p>
            <a:pPr marL="546900" lvl="1" indent="-273450" algn="l">
              <a:lnSpc>
                <a:spcPts val="3546"/>
              </a:lnSpc>
              <a:buFont typeface="Arial"/>
              <a:buChar char="•"/>
            </a:pPr>
            <a:r>
              <a:rPr lang="en-US" sz="2533">
                <a:solidFill>
                  <a:srgbClr val="000000"/>
                </a:solidFill>
                <a:latin typeface="Canva Sans"/>
                <a:ea typeface="Canva Sans"/>
                <a:cs typeface="Canva Sans"/>
                <a:sym typeface="Canva Sans"/>
              </a:rPr>
              <a:t>Products Table</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Stores product details such as name, category, price, quantity, reorder level</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Maintains last_updated timestamp for real-time tracking</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Primary Key: id</a:t>
            </a:r>
          </a:p>
          <a:p>
            <a:pPr marL="546900" lvl="1" indent="-273450" algn="l">
              <a:lnSpc>
                <a:spcPts val="3546"/>
              </a:lnSpc>
              <a:buFont typeface="Arial"/>
              <a:buChar char="•"/>
            </a:pPr>
            <a:r>
              <a:rPr lang="en-US" sz="2533">
                <a:solidFill>
                  <a:srgbClr val="000000"/>
                </a:solidFill>
                <a:latin typeface="Canva Sans"/>
                <a:ea typeface="Canva Sans"/>
                <a:cs typeface="Canva Sans"/>
                <a:sym typeface="Canva Sans"/>
              </a:rPr>
              <a:t>Stock_Logs Table</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Records every stock movement (ADD / REMOVE)</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Tracks change date, product reference, and quantity changed</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Primary Key: id</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Foreign Key: product_id → Products.id</a:t>
            </a:r>
          </a:p>
          <a:p>
            <a:pPr marL="546900" lvl="1" indent="-273450" algn="l">
              <a:lnSpc>
                <a:spcPts val="3546"/>
              </a:lnSpc>
              <a:buFont typeface="Arial"/>
              <a:buChar char="•"/>
            </a:pPr>
            <a:r>
              <a:rPr lang="en-US" sz="2533">
                <a:solidFill>
                  <a:srgbClr val="000000"/>
                </a:solidFill>
                <a:latin typeface="Canva Sans"/>
                <a:ea typeface="Canva Sans"/>
                <a:cs typeface="Canva Sans"/>
                <a:sym typeface="Canva Sans"/>
              </a:rPr>
              <a:t>Users Table</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Manages system users with roles (ADMIN / USER)</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Stores username, email, encrypted password</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Includes enabled flag for account activation</a:t>
            </a:r>
          </a:p>
          <a:p>
            <a:pPr marL="1093799" lvl="2" indent="-364600" algn="l">
              <a:lnSpc>
                <a:spcPts val="3546"/>
              </a:lnSpc>
              <a:buFont typeface="Arial"/>
              <a:buChar char="⚬"/>
            </a:pPr>
            <a:r>
              <a:rPr lang="en-US" sz="2533">
                <a:solidFill>
                  <a:srgbClr val="000000"/>
                </a:solidFill>
                <a:latin typeface="Canva Sans"/>
                <a:ea typeface="Canva Sans"/>
                <a:cs typeface="Canva Sans"/>
                <a:sym typeface="Canva Sans"/>
              </a:rPr>
              <a:t>Primary Key: id</a:t>
            </a:r>
          </a:p>
          <a:p>
            <a:pPr algn="l">
              <a:lnSpc>
                <a:spcPts val="3546"/>
              </a:lnSpc>
            </a:pPr>
            <a:endParaRPr lang="en-US" sz="2533">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2589643" y="8549278"/>
            <a:ext cx="5742617" cy="5775209"/>
          </a:xfrm>
          <a:custGeom>
            <a:avLst/>
            <a:gdLst/>
            <a:ahLst/>
            <a:cxnLst/>
            <a:rect l="l" t="t" r="r" b="b"/>
            <a:pathLst>
              <a:path w="5742617" h="5775209">
                <a:moveTo>
                  <a:pt x="0" y="0"/>
                </a:moveTo>
                <a:lnTo>
                  <a:pt x="5742618" y="0"/>
                </a:lnTo>
                <a:lnTo>
                  <a:pt x="5742618" y="5775209"/>
                </a:lnTo>
                <a:lnTo>
                  <a:pt x="0" y="57752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213041" y="-2422388"/>
            <a:ext cx="3755291" cy="3776603"/>
          </a:xfrm>
          <a:custGeom>
            <a:avLst/>
            <a:gdLst/>
            <a:ahLst/>
            <a:cxnLst/>
            <a:rect l="l" t="t" r="r" b="b"/>
            <a:pathLst>
              <a:path w="3755291" h="3776603">
                <a:moveTo>
                  <a:pt x="0" y="0"/>
                </a:moveTo>
                <a:lnTo>
                  <a:pt x="3755291" y="0"/>
                </a:lnTo>
                <a:lnTo>
                  <a:pt x="3755291" y="3776603"/>
                </a:lnTo>
                <a:lnTo>
                  <a:pt x="0" y="37766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rot="-1040707" flipH="1">
            <a:off x="15183600" y="738712"/>
            <a:ext cx="1393999" cy="1809483"/>
          </a:xfrm>
          <a:custGeom>
            <a:avLst/>
            <a:gdLst/>
            <a:ahLst/>
            <a:cxnLst/>
            <a:rect l="l" t="t" r="r" b="b"/>
            <a:pathLst>
              <a:path w="1393999" h="1809483">
                <a:moveTo>
                  <a:pt x="1393998" y="0"/>
                </a:moveTo>
                <a:lnTo>
                  <a:pt x="0" y="0"/>
                </a:lnTo>
                <a:lnTo>
                  <a:pt x="0" y="1809483"/>
                </a:lnTo>
                <a:lnTo>
                  <a:pt x="1393998" y="1809483"/>
                </a:lnTo>
                <a:lnTo>
                  <a:pt x="1393998"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a:off x="12631834" y="4248248"/>
            <a:ext cx="4627466" cy="5010052"/>
          </a:xfrm>
          <a:custGeom>
            <a:avLst/>
            <a:gdLst/>
            <a:ahLst/>
            <a:cxnLst/>
            <a:rect l="l" t="t" r="r" b="b"/>
            <a:pathLst>
              <a:path w="4627466" h="5010052">
                <a:moveTo>
                  <a:pt x="0" y="0"/>
                </a:moveTo>
                <a:lnTo>
                  <a:pt x="4627466" y="0"/>
                </a:lnTo>
                <a:lnTo>
                  <a:pt x="4627466" y="5010052"/>
                </a:lnTo>
                <a:lnTo>
                  <a:pt x="0" y="5010052"/>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6" name="TextBox 6"/>
          <p:cNvSpPr txBox="1"/>
          <p:nvPr/>
        </p:nvSpPr>
        <p:spPr>
          <a:xfrm>
            <a:off x="5470930" y="-47223"/>
            <a:ext cx="6545957" cy="1401438"/>
          </a:xfrm>
          <a:prstGeom prst="rect">
            <a:avLst/>
          </a:prstGeom>
        </p:spPr>
        <p:txBody>
          <a:bodyPr lIns="0" tIns="0" rIns="0" bIns="0" rtlCol="0" anchor="t">
            <a:spAutoFit/>
          </a:bodyPr>
          <a:lstStyle/>
          <a:p>
            <a:pPr algn="ctr">
              <a:lnSpc>
                <a:spcPts val="11480"/>
              </a:lnSpc>
            </a:pPr>
            <a:r>
              <a:rPr lang="en-US" sz="8200" b="1">
                <a:solidFill>
                  <a:srgbClr val="0C76BB"/>
                </a:solidFill>
                <a:latin typeface="Canva Sans Bold"/>
                <a:ea typeface="Canva Sans Bold"/>
                <a:cs typeface="Canva Sans Bold"/>
                <a:sym typeface="Canva Sans Bold"/>
              </a:rPr>
              <a:t>Key Features</a:t>
            </a:r>
          </a:p>
        </p:txBody>
      </p:sp>
      <p:sp>
        <p:nvSpPr>
          <p:cNvPr id="7" name="TextBox 7"/>
          <p:cNvSpPr txBox="1"/>
          <p:nvPr/>
        </p:nvSpPr>
        <p:spPr>
          <a:xfrm>
            <a:off x="3562448" y="2637853"/>
            <a:ext cx="7315440" cy="6620447"/>
          </a:xfrm>
          <a:prstGeom prst="rect">
            <a:avLst/>
          </a:prstGeom>
        </p:spPr>
        <p:txBody>
          <a:bodyPr lIns="0" tIns="0" rIns="0" bIns="0" rtlCol="0" anchor="t">
            <a:spAutoFit/>
          </a:bodyPr>
          <a:lstStyle/>
          <a:p>
            <a:pPr marL="813416" lvl="1" indent="-406708" algn="l">
              <a:lnSpc>
                <a:spcPts val="5274"/>
              </a:lnSpc>
              <a:buAutoNum type="arabicPeriod"/>
            </a:pPr>
            <a:r>
              <a:rPr lang="en-US" sz="3767">
                <a:solidFill>
                  <a:srgbClr val="000000"/>
                </a:solidFill>
                <a:latin typeface="Canva Sans"/>
                <a:ea typeface="Canva Sans"/>
                <a:cs typeface="Canva Sans"/>
                <a:sym typeface="Canva Sans"/>
              </a:rPr>
              <a:t>User Login &amp; Signup</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Role-based access (Admin/User)</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Add / Update products</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Stock update system</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Low stock alerts</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Dashboard analytics</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Graph visualization</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CSV export reports</a:t>
            </a:r>
          </a:p>
          <a:p>
            <a:pPr marL="813416" lvl="1" indent="-406708" algn="l">
              <a:lnSpc>
                <a:spcPts val="5274"/>
              </a:lnSpc>
              <a:buAutoNum type="arabicPeriod"/>
            </a:pPr>
            <a:r>
              <a:rPr lang="en-US" sz="3767">
                <a:solidFill>
                  <a:srgbClr val="000000"/>
                </a:solidFill>
                <a:latin typeface="Canva Sans"/>
                <a:ea typeface="Canva Sans"/>
                <a:cs typeface="Canva Sans"/>
                <a:sym typeface="Canva Sans"/>
              </a:rPr>
              <a:t>Search and filtering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339825" y="-1293899"/>
            <a:ext cx="3755291" cy="3776603"/>
          </a:xfrm>
          <a:custGeom>
            <a:avLst/>
            <a:gdLst/>
            <a:ahLst/>
            <a:cxnLst/>
            <a:rect l="l" t="t" r="r" b="b"/>
            <a:pathLst>
              <a:path w="3755291" h="3776603">
                <a:moveTo>
                  <a:pt x="0" y="0"/>
                </a:moveTo>
                <a:lnTo>
                  <a:pt x="3755291" y="0"/>
                </a:lnTo>
                <a:lnTo>
                  <a:pt x="3755291" y="3776604"/>
                </a:lnTo>
                <a:lnTo>
                  <a:pt x="0" y="377660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5872534" y="7804295"/>
            <a:ext cx="3755291" cy="3776603"/>
          </a:xfrm>
          <a:custGeom>
            <a:avLst/>
            <a:gdLst/>
            <a:ahLst/>
            <a:cxnLst/>
            <a:rect l="l" t="t" r="r" b="b"/>
            <a:pathLst>
              <a:path w="3755291" h="3776603">
                <a:moveTo>
                  <a:pt x="0" y="0"/>
                </a:moveTo>
                <a:lnTo>
                  <a:pt x="3755291" y="0"/>
                </a:lnTo>
                <a:lnTo>
                  <a:pt x="3755291" y="3776604"/>
                </a:lnTo>
                <a:lnTo>
                  <a:pt x="0" y="377660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040707" flipH="1">
            <a:off x="15841819" y="744013"/>
            <a:ext cx="1210741" cy="1571605"/>
          </a:xfrm>
          <a:custGeom>
            <a:avLst/>
            <a:gdLst/>
            <a:ahLst/>
            <a:cxnLst/>
            <a:rect l="l" t="t" r="r" b="b"/>
            <a:pathLst>
              <a:path w="1210741" h="1571605">
                <a:moveTo>
                  <a:pt x="1210741" y="0"/>
                </a:moveTo>
                <a:lnTo>
                  <a:pt x="0" y="0"/>
                </a:lnTo>
                <a:lnTo>
                  <a:pt x="0" y="1571605"/>
                </a:lnTo>
                <a:lnTo>
                  <a:pt x="1210741" y="1571605"/>
                </a:lnTo>
                <a:lnTo>
                  <a:pt x="1210741"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1040707" flipH="1">
            <a:off x="893666" y="7959691"/>
            <a:ext cx="1299845" cy="1687267"/>
          </a:xfrm>
          <a:custGeom>
            <a:avLst/>
            <a:gdLst/>
            <a:ahLst/>
            <a:cxnLst/>
            <a:rect l="l" t="t" r="r" b="b"/>
            <a:pathLst>
              <a:path w="1299845" h="1687267">
                <a:moveTo>
                  <a:pt x="1299844" y="0"/>
                </a:moveTo>
                <a:lnTo>
                  <a:pt x="0" y="0"/>
                </a:lnTo>
                <a:lnTo>
                  <a:pt x="0" y="1687267"/>
                </a:lnTo>
                <a:lnTo>
                  <a:pt x="1299844" y="1687267"/>
                </a:lnTo>
                <a:lnTo>
                  <a:pt x="1299844"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6736803" y="499153"/>
            <a:ext cx="3624163" cy="887095"/>
          </a:xfrm>
          <a:prstGeom prst="rect">
            <a:avLst/>
          </a:prstGeom>
        </p:spPr>
        <p:txBody>
          <a:bodyPr lIns="0" tIns="0" rIns="0" bIns="0" rtlCol="0" anchor="t">
            <a:spAutoFit/>
          </a:bodyPr>
          <a:lstStyle/>
          <a:p>
            <a:pPr algn="ctr">
              <a:lnSpc>
                <a:spcPts val="7279"/>
              </a:lnSpc>
              <a:spcBef>
                <a:spcPct val="0"/>
              </a:spcBef>
            </a:pPr>
            <a:r>
              <a:rPr lang="en-US" sz="5199" b="1">
                <a:solidFill>
                  <a:srgbClr val="0C76BB"/>
                </a:solidFill>
                <a:latin typeface="Canva Sans Bold"/>
                <a:ea typeface="Canva Sans Bold"/>
                <a:cs typeface="Canva Sans Bold"/>
                <a:sym typeface="Canva Sans Bold"/>
              </a:rPr>
              <a:t>Conclusion</a:t>
            </a:r>
          </a:p>
        </p:txBody>
      </p:sp>
      <p:sp>
        <p:nvSpPr>
          <p:cNvPr id="7" name="TextBox 7"/>
          <p:cNvSpPr txBox="1"/>
          <p:nvPr/>
        </p:nvSpPr>
        <p:spPr>
          <a:xfrm>
            <a:off x="2277852" y="2077085"/>
            <a:ext cx="13594682" cy="7181215"/>
          </a:xfrm>
          <a:prstGeom prst="rect">
            <a:avLst/>
          </a:prstGeom>
        </p:spPr>
        <p:txBody>
          <a:bodyPr lIns="0" tIns="0" rIns="0" bIns="0" rtlCol="0" anchor="t">
            <a:spAutoFit/>
          </a:bodyPr>
          <a:lstStyle/>
          <a:p>
            <a:pPr algn="just">
              <a:lnSpc>
                <a:spcPts val="4759"/>
              </a:lnSpc>
            </a:pPr>
            <a:r>
              <a:rPr lang="en-US" sz="3399" b="1">
                <a:solidFill>
                  <a:srgbClr val="000000"/>
                </a:solidFill>
                <a:latin typeface="Canva Sans Bold"/>
                <a:ea typeface="Canva Sans Bold"/>
                <a:cs typeface="Canva Sans Bold"/>
                <a:sym typeface="Canva Sans Bold"/>
              </a:rPr>
              <a:t>1.</a:t>
            </a:r>
            <a:r>
              <a:rPr lang="en-US" sz="3399">
                <a:solidFill>
                  <a:srgbClr val="000000"/>
                </a:solidFill>
                <a:latin typeface="Canva Sans"/>
                <a:ea typeface="Canva Sans"/>
                <a:cs typeface="Canva Sans"/>
                <a:sym typeface="Canva Sans"/>
              </a:rPr>
              <a:t>Developed a Java-based inventory management system that automates product tracking, secure authentication, and real-time stock monitoring.</a:t>
            </a:r>
          </a:p>
          <a:p>
            <a:pPr algn="just">
              <a:lnSpc>
                <a:spcPts val="4759"/>
              </a:lnSpc>
            </a:pPr>
            <a:endParaRPr lang="en-US" sz="3399">
              <a:solidFill>
                <a:srgbClr val="000000"/>
              </a:solidFill>
              <a:latin typeface="Canva Sans"/>
              <a:ea typeface="Canva Sans"/>
              <a:cs typeface="Canva Sans"/>
              <a:sym typeface="Canva Sans"/>
            </a:endParaRPr>
          </a:p>
          <a:p>
            <a:pPr algn="just">
              <a:lnSpc>
                <a:spcPts val="4759"/>
              </a:lnSpc>
            </a:pPr>
            <a:r>
              <a:rPr lang="en-US" sz="3399" b="1">
                <a:solidFill>
                  <a:srgbClr val="000000"/>
                </a:solidFill>
                <a:latin typeface="Canva Sans Bold"/>
                <a:ea typeface="Canva Sans Bold"/>
                <a:cs typeface="Canva Sans Bold"/>
                <a:sym typeface="Canva Sans Bold"/>
              </a:rPr>
              <a:t>2.</a:t>
            </a:r>
            <a:r>
              <a:rPr lang="en-US" sz="3399">
                <a:solidFill>
                  <a:srgbClr val="000000"/>
                </a:solidFill>
                <a:latin typeface="Canva Sans"/>
                <a:ea typeface="Canva Sans"/>
                <a:cs typeface="Canva Sans"/>
                <a:sym typeface="Canva Sans"/>
              </a:rPr>
              <a:t>Replaces manual inventory methods, reducing errors and improving operational efficiency through features like stock alerts, reporting, and role-based access.</a:t>
            </a:r>
          </a:p>
          <a:p>
            <a:pPr algn="just">
              <a:lnSpc>
                <a:spcPts val="4759"/>
              </a:lnSpc>
            </a:pPr>
            <a:endParaRPr lang="en-US" sz="3399">
              <a:solidFill>
                <a:srgbClr val="000000"/>
              </a:solidFill>
              <a:latin typeface="Canva Sans"/>
              <a:ea typeface="Canva Sans"/>
              <a:cs typeface="Canva Sans"/>
              <a:sym typeface="Canva Sans"/>
            </a:endParaRPr>
          </a:p>
          <a:p>
            <a:pPr algn="just">
              <a:lnSpc>
                <a:spcPts val="4759"/>
              </a:lnSpc>
            </a:pPr>
            <a:r>
              <a:rPr lang="en-US" sz="3399" b="1">
                <a:solidFill>
                  <a:srgbClr val="000000"/>
                </a:solidFill>
                <a:latin typeface="Canva Sans Bold"/>
                <a:ea typeface="Canva Sans Bold"/>
                <a:cs typeface="Canva Sans Bold"/>
                <a:sym typeface="Canva Sans Bold"/>
              </a:rPr>
              <a:t>3.</a:t>
            </a:r>
            <a:r>
              <a:rPr lang="en-US" sz="3399">
                <a:solidFill>
                  <a:srgbClr val="000000"/>
                </a:solidFill>
                <a:latin typeface="Canva Sans"/>
                <a:ea typeface="Canva Sans"/>
                <a:cs typeface="Canva Sans"/>
                <a:sym typeface="Canva Sans"/>
              </a:rPr>
              <a:t>Built with a modular design, allowing future enhancements such as email notifications, advanced analytics, and cloud deployment.</a:t>
            </a:r>
          </a:p>
          <a:p>
            <a:pPr algn="just">
              <a:lnSpc>
                <a:spcPts val="4759"/>
              </a:lnSpc>
            </a:pPr>
            <a:endParaRPr lang="en-US" sz="3399">
              <a:solidFill>
                <a:srgbClr val="000000"/>
              </a:solidFill>
              <a:latin typeface="Canva Sans"/>
              <a:ea typeface="Canva Sans"/>
              <a:cs typeface="Canva Sans"/>
              <a:sym typeface="Canv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14928942" y="-3368960"/>
            <a:ext cx="6141345" cy="6176200"/>
          </a:xfrm>
          <a:custGeom>
            <a:avLst/>
            <a:gdLst/>
            <a:ahLst/>
            <a:cxnLst/>
            <a:rect l="l" t="t" r="r" b="b"/>
            <a:pathLst>
              <a:path w="6141345" h="6176200">
                <a:moveTo>
                  <a:pt x="0" y="0"/>
                </a:moveTo>
                <a:lnTo>
                  <a:pt x="6141345" y="0"/>
                </a:lnTo>
                <a:lnTo>
                  <a:pt x="6141345" y="6176200"/>
                </a:lnTo>
                <a:lnTo>
                  <a:pt x="0" y="61762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2460702" y="6396698"/>
            <a:ext cx="4921404" cy="4949334"/>
          </a:xfrm>
          <a:custGeom>
            <a:avLst/>
            <a:gdLst/>
            <a:ahLst/>
            <a:cxnLst/>
            <a:rect l="l" t="t" r="r" b="b"/>
            <a:pathLst>
              <a:path w="4921404" h="4949334">
                <a:moveTo>
                  <a:pt x="0" y="0"/>
                </a:moveTo>
                <a:lnTo>
                  <a:pt x="4921404" y="0"/>
                </a:lnTo>
                <a:lnTo>
                  <a:pt x="4921404" y="4949334"/>
                </a:lnTo>
                <a:lnTo>
                  <a:pt x="0" y="494933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78390" y="-1268911"/>
            <a:ext cx="2523499" cy="2537821"/>
          </a:xfrm>
          <a:custGeom>
            <a:avLst/>
            <a:gdLst/>
            <a:ahLst/>
            <a:cxnLst/>
            <a:rect l="l" t="t" r="r" b="b"/>
            <a:pathLst>
              <a:path w="2523499" h="2537821">
                <a:moveTo>
                  <a:pt x="0" y="0"/>
                </a:moveTo>
                <a:lnTo>
                  <a:pt x="2523499" y="0"/>
                </a:lnTo>
                <a:lnTo>
                  <a:pt x="2523499" y="2537822"/>
                </a:lnTo>
                <a:lnTo>
                  <a:pt x="0" y="253782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17259300" y="8444778"/>
            <a:ext cx="2523499" cy="2537821"/>
          </a:xfrm>
          <a:custGeom>
            <a:avLst/>
            <a:gdLst/>
            <a:ahLst/>
            <a:cxnLst/>
            <a:rect l="l" t="t" r="r" b="b"/>
            <a:pathLst>
              <a:path w="2523499" h="2537821">
                <a:moveTo>
                  <a:pt x="0" y="0"/>
                </a:moveTo>
                <a:lnTo>
                  <a:pt x="2523499" y="0"/>
                </a:lnTo>
                <a:lnTo>
                  <a:pt x="2523499" y="2537821"/>
                </a:lnTo>
                <a:lnTo>
                  <a:pt x="0" y="253782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rot="-1393811">
            <a:off x="4487863" y="2807240"/>
            <a:ext cx="9312274" cy="7178916"/>
          </a:xfrm>
          <a:custGeom>
            <a:avLst/>
            <a:gdLst/>
            <a:ahLst/>
            <a:cxnLst/>
            <a:rect l="l" t="t" r="r" b="b"/>
            <a:pathLst>
              <a:path w="9312274" h="7178916">
                <a:moveTo>
                  <a:pt x="0" y="0"/>
                </a:moveTo>
                <a:lnTo>
                  <a:pt x="9312274" y="0"/>
                </a:lnTo>
                <a:lnTo>
                  <a:pt x="9312274" y="7178916"/>
                </a:lnTo>
                <a:lnTo>
                  <a:pt x="0" y="71789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3359058" y="1276350"/>
            <a:ext cx="11569885" cy="1266824"/>
          </a:xfrm>
          <a:prstGeom prst="rect">
            <a:avLst/>
          </a:prstGeom>
        </p:spPr>
        <p:txBody>
          <a:bodyPr lIns="0" tIns="0" rIns="0" bIns="0" rtlCol="0" anchor="t">
            <a:spAutoFit/>
          </a:bodyPr>
          <a:lstStyle/>
          <a:p>
            <a:pPr algn="ctr">
              <a:lnSpc>
                <a:spcPts val="9299"/>
              </a:lnSpc>
            </a:pPr>
            <a:r>
              <a:rPr lang="en-US" sz="9999" spc="-489">
                <a:solidFill>
                  <a:srgbClr val="023FB4"/>
                </a:solidFill>
                <a:latin typeface="Archivo Black"/>
                <a:ea typeface="Archivo Black"/>
                <a:cs typeface="Archivo Black"/>
                <a:sym typeface="Archivo Black"/>
              </a:rPr>
              <a:t>OUR TEAM</a:t>
            </a:r>
          </a:p>
        </p:txBody>
      </p:sp>
      <p:sp>
        <p:nvSpPr>
          <p:cNvPr id="8" name="TextBox 8"/>
          <p:cNvSpPr txBox="1"/>
          <p:nvPr/>
        </p:nvSpPr>
        <p:spPr>
          <a:xfrm>
            <a:off x="5961380" y="4256258"/>
            <a:ext cx="7160925" cy="3115420"/>
          </a:xfrm>
          <a:prstGeom prst="rect">
            <a:avLst/>
          </a:prstGeom>
        </p:spPr>
        <p:txBody>
          <a:bodyPr lIns="0" tIns="0" rIns="0" bIns="0" rtlCol="0" anchor="t">
            <a:spAutoFit/>
          </a:bodyPr>
          <a:lstStyle/>
          <a:p>
            <a:pPr marL="956248" lvl="1" indent="-478124" algn="l">
              <a:lnSpc>
                <a:spcPts val="6200"/>
              </a:lnSpc>
              <a:buAutoNum type="arabicPeriod"/>
            </a:pPr>
            <a:r>
              <a:rPr lang="en-US" sz="4429" b="1" dirty="0" smtClean="0">
                <a:solidFill>
                  <a:srgbClr val="F3F8FA"/>
                </a:solidFill>
                <a:latin typeface="Open Sans Bold"/>
                <a:ea typeface="Open Sans Bold"/>
                <a:cs typeface="Open Sans Bold"/>
                <a:sym typeface="Open Sans Bold"/>
              </a:rPr>
              <a:t>Sagar </a:t>
            </a:r>
            <a:r>
              <a:rPr lang="en-US" sz="4429" b="1" dirty="0" err="1" smtClean="0">
                <a:solidFill>
                  <a:srgbClr val="F3F8FA"/>
                </a:solidFill>
                <a:latin typeface="Open Sans Bold"/>
                <a:ea typeface="Open Sans Bold"/>
                <a:cs typeface="Open Sans Bold"/>
                <a:sym typeface="Open Sans Bold"/>
              </a:rPr>
              <a:t>Wankhede</a:t>
            </a:r>
            <a:endParaRPr lang="en-US" sz="4429" b="1" dirty="0">
              <a:solidFill>
                <a:srgbClr val="F3F8FA"/>
              </a:solidFill>
              <a:latin typeface="Open Sans Bold"/>
              <a:ea typeface="Open Sans Bold"/>
              <a:cs typeface="Open Sans Bold"/>
              <a:sym typeface="Open Sans Bold"/>
            </a:endParaRPr>
          </a:p>
          <a:p>
            <a:pPr marL="956248" lvl="1" indent="-478124">
              <a:lnSpc>
                <a:spcPts val="6200"/>
              </a:lnSpc>
              <a:buAutoNum type="arabicPeriod"/>
            </a:pPr>
            <a:r>
              <a:rPr lang="en-US" sz="4429" b="1" dirty="0" err="1">
                <a:solidFill>
                  <a:srgbClr val="F3F8FA"/>
                </a:solidFill>
                <a:latin typeface="Open Sans Bold"/>
                <a:ea typeface="Open Sans Bold"/>
                <a:cs typeface="Open Sans Bold"/>
                <a:sym typeface="Open Sans Bold"/>
              </a:rPr>
              <a:t>Sumit</a:t>
            </a:r>
            <a:r>
              <a:rPr lang="en-US" sz="4429" b="1" dirty="0">
                <a:solidFill>
                  <a:srgbClr val="F3F8FA"/>
                </a:solidFill>
                <a:latin typeface="Open Sans Bold"/>
                <a:ea typeface="Open Sans Bold"/>
                <a:cs typeface="Open Sans Bold"/>
                <a:sym typeface="Open Sans Bold"/>
              </a:rPr>
              <a:t> Kumar</a:t>
            </a:r>
          </a:p>
          <a:p>
            <a:pPr marL="956248" lvl="1" indent="-478124" algn="l">
              <a:lnSpc>
                <a:spcPts val="6200"/>
              </a:lnSpc>
              <a:buAutoNum type="arabicPeriod"/>
            </a:pPr>
            <a:r>
              <a:rPr lang="en-US" sz="4429" b="1" dirty="0" err="1" smtClean="0">
                <a:solidFill>
                  <a:srgbClr val="F3F8FA"/>
                </a:solidFill>
                <a:latin typeface="Open Sans Bold"/>
                <a:ea typeface="Open Sans Bold"/>
                <a:cs typeface="Open Sans Bold"/>
                <a:sym typeface="Open Sans Bold"/>
              </a:rPr>
              <a:t>RathiKindi</a:t>
            </a:r>
            <a:r>
              <a:rPr lang="en-US" sz="4429" b="1" dirty="0" smtClean="0">
                <a:solidFill>
                  <a:srgbClr val="F3F8FA"/>
                </a:solidFill>
                <a:latin typeface="Open Sans Bold"/>
                <a:ea typeface="Open Sans Bold"/>
                <a:cs typeface="Open Sans Bold"/>
                <a:sym typeface="Open Sans Bold"/>
              </a:rPr>
              <a:t> </a:t>
            </a:r>
            <a:r>
              <a:rPr lang="en-US" sz="4429" b="1" dirty="0" err="1">
                <a:solidFill>
                  <a:srgbClr val="F3F8FA"/>
                </a:solidFill>
                <a:latin typeface="Open Sans Bold"/>
                <a:ea typeface="Open Sans Bold"/>
                <a:cs typeface="Open Sans Bold"/>
                <a:sym typeface="Open Sans Bold"/>
              </a:rPr>
              <a:t>Meenakshi</a:t>
            </a:r>
            <a:endParaRPr lang="en-US" sz="4429" b="1" dirty="0">
              <a:solidFill>
                <a:srgbClr val="F3F8FA"/>
              </a:solidFill>
              <a:latin typeface="Open Sans Bold"/>
              <a:ea typeface="Open Sans Bold"/>
              <a:cs typeface="Open Sans Bold"/>
              <a:sym typeface="Open Sans Bold"/>
            </a:endParaRPr>
          </a:p>
          <a:p>
            <a:pPr marL="956248" lvl="1" indent="-478124" algn="l">
              <a:lnSpc>
                <a:spcPts val="6200"/>
              </a:lnSpc>
              <a:buAutoNum type="arabicPeriod"/>
            </a:pPr>
            <a:r>
              <a:rPr lang="en-US" sz="4429" b="1" dirty="0" err="1">
                <a:solidFill>
                  <a:srgbClr val="F3F8FA"/>
                </a:solidFill>
                <a:latin typeface="Open Sans Bold"/>
                <a:ea typeface="Open Sans Bold"/>
                <a:cs typeface="Open Sans Bold"/>
                <a:sym typeface="Open Sans Bold"/>
              </a:rPr>
              <a:t>Swetha</a:t>
            </a:r>
            <a:r>
              <a:rPr lang="en-US" sz="4429" b="1" dirty="0">
                <a:solidFill>
                  <a:srgbClr val="F3F8FA"/>
                </a:solidFill>
                <a:latin typeface="Open Sans Bold"/>
                <a:ea typeface="Open Sans Bold"/>
                <a:cs typeface="Open Sans Bold"/>
                <a:sym typeface="Open Sans Bold"/>
              </a:rPr>
              <a:t> 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8FA"/>
        </a:solidFill>
        <a:effectLst/>
      </p:bgPr>
    </p:bg>
    <p:spTree>
      <p:nvGrpSpPr>
        <p:cNvPr id="1" name=""/>
        <p:cNvGrpSpPr/>
        <p:nvPr/>
      </p:nvGrpSpPr>
      <p:grpSpPr>
        <a:xfrm>
          <a:off x="0" y="0"/>
          <a:ext cx="0" cy="0"/>
          <a:chOff x="0" y="0"/>
          <a:chExt cx="0" cy="0"/>
        </a:xfrm>
      </p:grpSpPr>
      <p:sp>
        <p:nvSpPr>
          <p:cNvPr id="2" name="Freeform 2"/>
          <p:cNvSpPr/>
          <p:nvPr/>
        </p:nvSpPr>
        <p:spPr>
          <a:xfrm>
            <a:off x="-2512688" y="-2453346"/>
            <a:ext cx="5705207" cy="5737586"/>
          </a:xfrm>
          <a:custGeom>
            <a:avLst/>
            <a:gdLst/>
            <a:ahLst/>
            <a:cxnLst/>
            <a:rect l="l" t="t" r="r" b="b"/>
            <a:pathLst>
              <a:path w="5705207" h="5737586">
                <a:moveTo>
                  <a:pt x="0" y="0"/>
                </a:moveTo>
                <a:lnTo>
                  <a:pt x="5705208" y="0"/>
                </a:lnTo>
                <a:lnTo>
                  <a:pt x="5705208" y="5737587"/>
                </a:lnTo>
                <a:lnTo>
                  <a:pt x="0" y="573758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4592295" y="6496719"/>
            <a:ext cx="6208392" cy="6243627"/>
          </a:xfrm>
          <a:custGeom>
            <a:avLst/>
            <a:gdLst/>
            <a:ahLst/>
            <a:cxnLst/>
            <a:rect l="l" t="t" r="r" b="b"/>
            <a:pathLst>
              <a:path w="6208392" h="6243627">
                <a:moveTo>
                  <a:pt x="0" y="0"/>
                </a:moveTo>
                <a:lnTo>
                  <a:pt x="6208393" y="0"/>
                </a:lnTo>
                <a:lnTo>
                  <a:pt x="6208393" y="6243627"/>
                </a:lnTo>
                <a:lnTo>
                  <a:pt x="0" y="624362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040707" flipH="1">
            <a:off x="15400379" y="1173444"/>
            <a:ext cx="1210741" cy="1571605"/>
          </a:xfrm>
          <a:custGeom>
            <a:avLst/>
            <a:gdLst/>
            <a:ahLst/>
            <a:cxnLst/>
            <a:rect l="l" t="t" r="r" b="b"/>
            <a:pathLst>
              <a:path w="1210741" h="1571605">
                <a:moveTo>
                  <a:pt x="1210741" y="0"/>
                </a:moveTo>
                <a:lnTo>
                  <a:pt x="0" y="0"/>
                </a:lnTo>
                <a:lnTo>
                  <a:pt x="0" y="1571605"/>
                </a:lnTo>
                <a:lnTo>
                  <a:pt x="1210741" y="1571605"/>
                </a:lnTo>
                <a:lnTo>
                  <a:pt x="1210741"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rot="-1040707" flipH="1">
            <a:off x="2242789" y="6301498"/>
            <a:ext cx="1299845" cy="1687267"/>
          </a:xfrm>
          <a:custGeom>
            <a:avLst/>
            <a:gdLst/>
            <a:ahLst/>
            <a:cxnLst/>
            <a:rect l="l" t="t" r="r" b="b"/>
            <a:pathLst>
              <a:path w="1299845" h="1687267">
                <a:moveTo>
                  <a:pt x="1299845" y="0"/>
                </a:moveTo>
                <a:lnTo>
                  <a:pt x="0" y="0"/>
                </a:lnTo>
                <a:lnTo>
                  <a:pt x="0" y="1687266"/>
                </a:lnTo>
                <a:lnTo>
                  <a:pt x="1299845" y="1687266"/>
                </a:lnTo>
                <a:lnTo>
                  <a:pt x="1299845"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1704861" y="3213642"/>
            <a:ext cx="14878277" cy="1681353"/>
          </a:xfrm>
          <a:prstGeom prst="rect">
            <a:avLst/>
          </a:prstGeom>
        </p:spPr>
        <p:txBody>
          <a:bodyPr lIns="0" tIns="0" rIns="0" bIns="0" rtlCol="0" anchor="t">
            <a:spAutoFit/>
          </a:bodyPr>
          <a:lstStyle/>
          <a:p>
            <a:pPr algn="ctr">
              <a:lnSpc>
                <a:spcPts val="12276"/>
              </a:lnSpc>
            </a:pPr>
            <a:r>
              <a:rPr lang="en-US" sz="13200" spc="-646">
                <a:solidFill>
                  <a:srgbClr val="0C76BB"/>
                </a:solidFill>
                <a:latin typeface="Archivo Black"/>
                <a:ea typeface="Archivo Black"/>
                <a:cs typeface="Archivo Black"/>
                <a:sym typeface="Archivo Black"/>
              </a:rPr>
              <a:t>THANK YOU</a:t>
            </a:r>
          </a:p>
        </p:txBody>
      </p:sp>
      <p:sp>
        <p:nvSpPr>
          <p:cNvPr id="7" name="Freeform 7"/>
          <p:cNvSpPr/>
          <p:nvPr/>
        </p:nvSpPr>
        <p:spPr>
          <a:xfrm>
            <a:off x="6443158" y="5840001"/>
            <a:ext cx="4265131" cy="2610260"/>
          </a:xfrm>
          <a:custGeom>
            <a:avLst/>
            <a:gdLst/>
            <a:ahLst/>
            <a:cxnLst/>
            <a:rect l="l" t="t" r="r" b="b"/>
            <a:pathLst>
              <a:path w="4265131" h="2610260">
                <a:moveTo>
                  <a:pt x="0" y="0"/>
                </a:moveTo>
                <a:lnTo>
                  <a:pt x="4265132" y="0"/>
                </a:lnTo>
                <a:lnTo>
                  <a:pt x="4265132" y="2610260"/>
                </a:lnTo>
                <a:lnTo>
                  <a:pt x="0" y="2610260"/>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746</Words>
  <Application>Microsoft Office PowerPoint</Application>
  <PresentationFormat>Custom</PresentationFormat>
  <Paragraphs>116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Canva Sans Bold</vt:lpstr>
      <vt:lpstr>Archivo Black</vt:lpstr>
      <vt:lpstr>Calibri</vt:lpstr>
      <vt:lpstr>Open Sans Bold</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Sumit Kumar &amp; Team</dc:title>
  <dc:creator>Sagar Wankhede</dc:creator>
  <cp:lastModifiedBy>Sagar</cp:lastModifiedBy>
  <cp:revision>2</cp:revision>
  <dcterms:created xsi:type="dcterms:W3CDTF">2006-08-16T00:00:00Z</dcterms:created>
  <dcterms:modified xsi:type="dcterms:W3CDTF">2026-04-02T17:50:56Z</dcterms:modified>
  <dc:identifier>DAHD8DD4xuU</dc:identifier>
</cp:coreProperties>
</file>